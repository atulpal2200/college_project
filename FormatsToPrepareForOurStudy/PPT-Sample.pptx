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1"/>
  </p:sldMasterIdLst>
  <p:notesMasterIdLst>
    <p:notesMasterId r:id="rId33"/>
  </p:notesMasterIdLst>
  <p:sldIdLst>
    <p:sldId id="256" r:id="rId2"/>
    <p:sldId id="259" r:id="rId3"/>
    <p:sldId id="260" r:id="rId4"/>
    <p:sldId id="257" r:id="rId5"/>
    <p:sldId id="258" r:id="rId6"/>
    <p:sldId id="261" r:id="rId7"/>
    <p:sldId id="262" r:id="rId8"/>
    <p:sldId id="263" r:id="rId9"/>
    <p:sldId id="264" r:id="rId10"/>
    <p:sldId id="266" r:id="rId11"/>
    <p:sldId id="279" r:id="rId12"/>
    <p:sldId id="267" r:id="rId13"/>
    <p:sldId id="268" r:id="rId14"/>
    <p:sldId id="269" r:id="rId15"/>
    <p:sldId id="270" r:id="rId16"/>
    <p:sldId id="271" r:id="rId17"/>
    <p:sldId id="272" r:id="rId18"/>
    <p:sldId id="273" r:id="rId19"/>
    <p:sldId id="274" r:id="rId20"/>
    <p:sldId id="284" r:id="rId21"/>
    <p:sldId id="285" r:id="rId22"/>
    <p:sldId id="275" r:id="rId23"/>
    <p:sldId id="276" r:id="rId24"/>
    <p:sldId id="277" r:id="rId25"/>
    <p:sldId id="286" r:id="rId26"/>
    <p:sldId id="287" r:id="rId27"/>
    <p:sldId id="278" r:id="rId28"/>
    <p:sldId id="280" r:id="rId29"/>
    <p:sldId id="281" r:id="rId30"/>
    <p:sldId id="282" r:id="rId31"/>
    <p:sldId id="28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3447" autoAdjust="0"/>
  </p:normalViewPr>
  <p:slideViewPr>
    <p:cSldViewPr snapToGrid="0">
      <p:cViewPr>
        <p:scale>
          <a:sx n="50" d="100"/>
          <a:sy n="50" d="100"/>
        </p:scale>
        <p:origin x="12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653CA-67A7-4FE8-A417-869E91BA60AD}" type="datetimeFigureOut">
              <a:rPr lang="en-IN" smtClean="0"/>
              <a:t>04-06-2024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ECB300-CA6D-41EC-9A3E-241B8A8680F0}" type="slidenum">
              <a:rPr lang="en-IN" smtClean="0"/>
              <a:t>‹#›</a:t>
            </a:fld>
            <a:endParaRPr lang="en-IN"/>
          </a:p>
        </p:txBody>
      </p:sp>
    </p:spTree>
    <p:extLst>
      <p:ext uri="{BB962C8B-B14F-4D97-AF65-F5344CB8AC3E}">
        <p14:creationId xmlns:p14="http://schemas.microsoft.com/office/powerpoint/2010/main" val="2554997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ECB300-CA6D-41EC-9A3E-241B8A8680F0}" type="slidenum">
              <a:rPr lang="en-IN" smtClean="0"/>
              <a:t>15</a:t>
            </a:fld>
            <a:endParaRPr lang="en-IN"/>
          </a:p>
        </p:txBody>
      </p:sp>
    </p:spTree>
    <p:extLst>
      <p:ext uri="{BB962C8B-B14F-4D97-AF65-F5344CB8AC3E}">
        <p14:creationId xmlns:p14="http://schemas.microsoft.com/office/powerpoint/2010/main" val="2592926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ECB300-CA6D-41EC-9A3E-241B8A8680F0}" type="slidenum">
              <a:rPr lang="en-IN" smtClean="0"/>
              <a:t>27</a:t>
            </a:fld>
            <a:endParaRPr lang="en-IN"/>
          </a:p>
        </p:txBody>
      </p:sp>
    </p:spTree>
    <p:extLst>
      <p:ext uri="{BB962C8B-B14F-4D97-AF65-F5344CB8AC3E}">
        <p14:creationId xmlns:p14="http://schemas.microsoft.com/office/powerpoint/2010/main" val="4041813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ECB300-CA6D-41EC-9A3E-241B8A8680F0}" type="slidenum">
              <a:rPr lang="en-IN" smtClean="0"/>
              <a:t>30</a:t>
            </a:fld>
            <a:endParaRPr lang="en-IN"/>
          </a:p>
        </p:txBody>
      </p:sp>
    </p:spTree>
    <p:extLst>
      <p:ext uri="{BB962C8B-B14F-4D97-AF65-F5344CB8AC3E}">
        <p14:creationId xmlns:p14="http://schemas.microsoft.com/office/powerpoint/2010/main" val="2163473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268970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3407576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2436818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528459-FC99-4916-B520-255FF35C7400}" type="datetimeFigureOut">
              <a:rPr lang="en-IN" smtClean="0"/>
              <a:t>04-06-2024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181365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528459-FC99-4916-B520-255FF35C7400}" type="datetimeFigureOut">
              <a:rPr lang="en-IN" smtClean="0"/>
              <a:t>04-06-2024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1984124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528459-FC99-4916-B520-255FF35C7400}" type="datetimeFigureOut">
              <a:rPr lang="en-IN" smtClean="0"/>
              <a:t>04-06-2024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1545363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528459-FC99-4916-B520-255FF35C7400}" type="datetimeFigureOut">
              <a:rPr lang="en-IN" smtClean="0"/>
              <a:t>04-06-2024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160199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528459-FC99-4916-B520-255FF35C7400}" type="datetimeFigureOut">
              <a:rPr lang="en-IN" smtClean="0"/>
              <a:t>04-06-2024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2966347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528459-FC99-4916-B520-255FF35C7400}" type="datetimeFigureOut">
              <a:rPr lang="en-IN" smtClean="0"/>
              <a:t>04-06-2024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2579604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3965463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28319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753690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0212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3278104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3509777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28459-FC99-4916-B520-255FF35C7400}" type="datetimeFigureOut">
              <a:rPr lang="en-IN" smtClean="0"/>
              <a:t>04-06-2024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E8A3A2-B67C-47F5-BF4D-581C552A5387}" type="slidenum">
              <a:rPr lang="en-IN" smtClean="0"/>
              <a:t>‹#›</a:t>
            </a:fld>
            <a:endParaRPr lang="en-IN"/>
          </a:p>
        </p:txBody>
      </p:sp>
    </p:spTree>
    <p:extLst>
      <p:ext uri="{BB962C8B-B14F-4D97-AF65-F5344CB8AC3E}">
        <p14:creationId xmlns:p14="http://schemas.microsoft.com/office/powerpoint/2010/main" val="2661112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9528459-FC99-4916-B520-255FF35C7400}" type="datetimeFigureOut">
              <a:rPr lang="en-IN" smtClean="0"/>
              <a:t>04-06-2024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3E8A3A2-B67C-47F5-BF4D-581C552A5387}" type="slidenum">
              <a:rPr lang="en-IN" smtClean="0"/>
              <a:t>‹#›</a:t>
            </a:fld>
            <a:endParaRPr lang="en-IN"/>
          </a:p>
        </p:txBody>
      </p:sp>
    </p:spTree>
    <p:extLst>
      <p:ext uri="{BB962C8B-B14F-4D97-AF65-F5344CB8AC3E}">
        <p14:creationId xmlns:p14="http://schemas.microsoft.com/office/powerpoint/2010/main" val="2087020950"/>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derivative-of-the-sigmoid-function/" TargetMode="External"/><Relationship Id="rId2" Type="http://schemas.openxmlformats.org/officeDocument/2006/relationships/hyperlink" Target="https://www.geeksforgeeks.org/getting-started-with-classification/"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www.geeksforgeeks.org/ml-linear-regression/"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separating-hyperplanes-in-svm/" TargetMode="External"/><Relationship Id="rId2" Type="http://schemas.openxmlformats.org/officeDocument/2006/relationships/hyperlink" Target="https://www.geeksforgeeks.org/supervised-unsupervised-learning/"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data-mining/" TargetMode="External"/><Relationship Id="rId2" Type="http://schemas.openxmlformats.org/officeDocument/2006/relationships/hyperlink" Target="https://www.geeksforgeeks.org/supervised-unsupervised-learning/"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www.geeksforgeeks.org/mathematics-probability-distributions-set-3-normal-distribution/"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6">
            <a:extLst>
              <a:ext uri="{FF2B5EF4-FFF2-40B4-BE49-F238E27FC236}">
                <a16:creationId xmlns:a16="http://schemas.microsoft.com/office/drawing/2014/main" id="{60F11666-C7B1-5F96-12F8-FACE366268C7}"/>
              </a:ext>
            </a:extLst>
          </p:cNvPr>
          <p:cNvSpPr txBox="1"/>
          <p:nvPr/>
        </p:nvSpPr>
        <p:spPr>
          <a:xfrm>
            <a:off x="4297680" y="3034376"/>
            <a:ext cx="4824711" cy="120032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2400" b="1" dirty="0"/>
              <a:t>MCA 2</a:t>
            </a:r>
            <a:r>
              <a:rPr lang="en-IN" sz="2400" b="1" baseline="30000" dirty="0"/>
              <a:t>nd</a:t>
            </a:r>
            <a:r>
              <a:rPr lang="en-IN" sz="2400" b="1" dirty="0"/>
              <a:t> year 4th semester</a:t>
            </a:r>
          </a:p>
          <a:p>
            <a:endParaRPr lang="en-IN" sz="2400" b="1" dirty="0"/>
          </a:p>
          <a:p>
            <a:r>
              <a:rPr lang="en-IN" sz="2400" b="1" dirty="0"/>
              <a:t>            2023-24</a:t>
            </a:r>
          </a:p>
        </p:txBody>
      </p:sp>
      <p:sp>
        <p:nvSpPr>
          <p:cNvPr id="11" name="TextBox 3">
            <a:extLst>
              <a:ext uri="{FF2B5EF4-FFF2-40B4-BE49-F238E27FC236}">
                <a16:creationId xmlns:a16="http://schemas.microsoft.com/office/drawing/2014/main" id="{424D55EB-FD60-BFD6-EDD2-16BD3281D8F1}"/>
              </a:ext>
            </a:extLst>
          </p:cNvPr>
          <p:cNvSpPr txBox="1"/>
          <p:nvPr/>
        </p:nvSpPr>
        <p:spPr>
          <a:xfrm>
            <a:off x="3254829" y="1170133"/>
            <a:ext cx="7027091" cy="10772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b="1" dirty="0"/>
              <a:t> Crop Recommendation System Using Machine Learning</a:t>
            </a:r>
          </a:p>
        </p:txBody>
      </p:sp>
      <p:sp>
        <p:nvSpPr>
          <p:cNvPr id="12" name="TextBox 9">
            <a:extLst>
              <a:ext uri="{FF2B5EF4-FFF2-40B4-BE49-F238E27FC236}">
                <a16:creationId xmlns:a16="http://schemas.microsoft.com/office/drawing/2014/main" id="{E10698A9-F517-20A4-D173-3BD3C942A1F1}"/>
              </a:ext>
            </a:extLst>
          </p:cNvPr>
          <p:cNvSpPr txBox="1"/>
          <p:nvPr/>
        </p:nvSpPr>
        <p:spPr>
          <a:xfrm>
            <a:off x="772886" y="4210539"/>
            <a:ext cx="3799114" cy="147732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b="1" dirty="0"/>
              <a:t>Group Members :</a:t>
            </a:r>
          </a:p>
          <a:p>
            <a:endParaRPr lang="en-IN" b="1" dirty="0"/>
          </a:p>
          <a:p>
            <a:r>
              <a:rPr lang="en-IN" dirty="0"/>
              <a:t>Kartikey : 2200520140025</a:t>
            </a:r>
          </a:p>
          <a:p>
            <a:r>
              <a:rPr lang="en-IN" dirty="0"/>
              <a:t>Arpan Gupta : 2200520140010</a:t>
            </a:r>
          </a:p>
          <a:p>
            <a:r>
              <a:rPr lang="en-IN" dirty="0"/>
              <a:t>Harsh Jaiswal : 2200520140018</a:t>
            </a:r>
          </a:p>
        </p:txBody>
      </p:sp>
      <p:pic>
        <p:nvPicPr>
          <p:cNvPr id="13" name="Picture 12">
            <a:extLst>
              <a:ext uri="{FF2B5EF4-FFF2-40B4-BE49-F238E27FC236}">
                <a16:creationId xmlns:a16="http://schemas.microsoft.com/office/drawing/2014/main" id="{A1BBC1FF-2529-4D91-4349-A519668D30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7744" y="610446"/>
            <a:ext cx="2077539" cy="1892421"/>
          </a:xfrm>
          <a:prstGeom prst="rect">
            <a:avLst/>
          </a:prstGeom>
          <a:noFill/>
          <a:ln>
            <a:noFill/>
          </a:ln>
        </p:spPr>
      </p:pic>
      <p:sp>
        <p:nvSpPr>
          <p:cNvPr id="15" name="TextBox 14">
            <a:extLst>
              <a:ext uri="{FF2B5EF4-FFF2-40B4-BE49-F238E27FC236}">
                <a16:creationId xmlns:a16="http://schemas.microsoft.com/office/drawing/2014/main" id="{70999373-CF99-D45A-5B91-DF83912C7024}"/>
              </a:ext>
            </a:extLst>
          </p:cNvPr>
          <p:cNvSpPr txBox="1"/>
          <p:nvPr/>
        </p:nvSpPr>
        <p:spPr>
          <a:xfrm>
            <a:off x="8096794" y="3821401"/>
            <a:ext cx="3614057" cy="1477328"/>
          </a:xfrm>
          <a:prstGeom prst="rect">
            <a:avLst/>
          </a:prstGeom>
          <a:noFill/>
        </p:spPr>
        <p:txBody>
          <a:bodyPr wrap="square">
            <a:spAutoFit/>
          </a:bodyPr>
          <a:lstStyle/>
          <a:p>
            <a:endParaRPr lang="en-IN" b="1" dirty="0"/>
          </a:p>
          <a:p>
            <a:r>
              <a:rPr lang="en-IN" b="1" dirty="0"/>
              <a:t>Under the guidance of :</a:t>
            </a:r>
          </a:p>
          <a:p>
            <a:endParaRPr lang="en-IN" b="1" dirty="0"/>
          </a:p>
          <a:p>
            <a:r>
              <a:rPr lang="en-IN" dirty="0" err="1"/>
              <a:t>Dr.</a:t>
            </a:r>
            <a:r>
              <a:rPr lang="en-IN" dirty="0"/>
              <a:t> Manik Chandra</a:t>
            </a:r>
          </a:p>
          <a:p>
            <a:r>
              <a:rPr lang="en-IN" dirty="0"/>
              <a:t>Mr. Sandeep Yadav</a:t>
            </a:r>
          </a:p>
        </p:txBody>
      </p:sp>
    </p:spTree>
    <p:extLst>
      <p:ext uri="{BB962C8B-B14F-4D97-AF65-F5344CB8AC3E}">
        <p14:creationId xmlns:p14="http://schemas.microsoft.com/office/powerpoint/2010/main" val="2611760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F2F0-79C8-63BF-124A-4BE4F6D6AB45}"/>
              </a:ext>
            </a:extLst>
          </p:cNvPr>
          <p:cNvSpPr>
            <a:spLocks noGrp="1"/>
          </p:cNvSpPr>
          <p:nvPr>
            <p:ph type="title"/>
          </p:nvPr>
        </p:nvSpPr>
        <p:spPr/>
        <p:txBody>
          <a:bodyPr/>
          <a:lstStyle/>
          <a:p>
            <a:r>
              <a:rPr lang="en-US" dirty="0">
                <a:solidFill>
                  <a:schemeClr val="tx1"/>
                </a:solidFill>
              </a:rPr>
              <a:t>              Table of Contents</a:t>
            </a:r>
            <a:endParaRPr lang="en-IN" dirty="0">
              <a:solidFill>
                <a:schemeClr val="tx1"/>
              </a:solidFill>
            </a:endParaRPr>
          </a:p>
        </p:txBody>
      </p:sp>
      <p:sp>
        <p:nvSpPr>
          <p:cNvPr id="3" name="Content Placeholder 2">
            <a:extLst>
              <a:ext uri="{FF2B5EF4-FFF2-40B4-BE49-F238E27FC236}">
                <a16:creationId xmlns:a16="http://schemas.microsoft.com/office/drawing/2014/main" id="{3757C65E-AD19-84FC-5982-75C2B163DE7F}"/>
              </a:ext>
            </a:extLst>
          </p:cNvPr>
          <p:cNvSpPr>
            <a:spLocks noGrp="1"/>
          </p:cNvSpPr>
          <p:nvPr>
            <p:ph idx="1"/>
          </p:nvPr>
        </p:nvSpPr>
        <p:spPr>
          <a:xfrm>
            <a:off x="677334" y="1360715"/>
            <a:ext cx="8596668" cy="4680648"/>
          </a:xfrm>
        </p:spPr>
        <p:txBody>
          <a:bodyPr>
            <a:normAutofit fontScale="47500" lnSpcReduction="20000"/>
          </a:bodyPr>
          <a:lstStyle/>
          <a:p>
            <a:r>
              <a:rPr lang="en-US" sz="5500" b="1" dirty="0"/>
              <a:t>A</a:t>
            </a:r>
            <a:r>
              <a:rPr lang="en-IN" sz="5500" b="1" dirty="0" err="1"/>
              <a:t>bstract</a:t>
            </a:r>
            <a:endParaRPr lang="en-IN" sz="5500" b="1" dirty="0"/>
          </a:p>
          <a:p>
            <a:r>
              <a:rPr lang="en-IN" sz="5500" b="1" dirty="0"/>
              <a:t>Introduction</a:t>
            </a:r>
          </a:p>
          <a:p>
            <a:r>
              <a:rPr lang="en-IN" sz="5500" b="1" dirty="0"/>
              <a:t>Existing System</a:t>
            </a:r>
          </a:p>
          <a:p>
            <a:r>
              <a:rPr lang="en-IN" sz="5500" b="1" dirty="0"/>
              <a:t>Advantages </a:t>
            </a:r>
          </a:p>
          <a:p>
            <a:r>
              <a:rPr lang="en-IN" sz="5500" b="1" dirty="0"/>
              <a:t>Disadvantages</a:t>
            </a:r>
          </a:p>
          <a:p>
            <a:r>
              <a:rPr lang="en-IN" sz="5500" b="1" dirty="0"/>
              <a:t>Proposed System</a:t>
            </a:r>
          </a:p>
          <a:p>
            <a:r>
              <a:rPr lang="en-IN" sz="5500" b="1" dirty="0"/>
              <a:t>Data Flow Diagram</a:t>
            </a:r>
          </a:p>
          <a:p>
            <a:r>
              <a:rPr lang="en-IN" sz="5500" b="1" dirty="0"/>
              <a:t>Methodology</a:t>
            </a:r>
          </a:p>
          <a:p>
            <a:r>
              <a:rPr lang="en-IN" sz="5500" b="1" dirty="0"/>
              <a:t>Conclusion</a:t>
            </a:r>
          </a:p>
          <a:p>
            <a:r>
              <a:rPr lang="en-IN" sz="5500" b="1" dirty="0"/>
              <a:t>References</a:t>
            </a:r>
          </a:p>
          <a:p>
            <a:endParaRPr lang="en-IN" dirty="0"/>
          </a:p>
          <a:p>
            <a:endParaRPr lang="en-US" dirty="0"/>
          </a:p>
        </p:txBody>
      </p:sp>
    </p:spTree>
    <p:extLst>
      <p:ext uri="{BB962C8B-B14F-4D97-AF65-F5344CB8AC3E}">
        <p14:creationId xmlns:p14="http://schemas.microsoft.com/office/powerpoint/2010/main" val="3962880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A6721-ADD7-B0A6-3F57-0D0AEA01B0F9}"/>
              </a:ext>
            </a:extLst>
          </p:cNvPr>
          <p:cNvSpPr>
            <a:spLocks noGrp="1"/>
          </p:cNvSpPr>
          <p:nvPr>
            <p:ph type="title"/>
          </p:nvPr>
        </p:nvSpPr>
        <p:spPr/>
        <p:txBody>
          <a:bodyPr/>
          <a:lstStyle/>
          <a:p>
            <a:r>
              <a:rPr lang="en-US" dirty="0">
                <a:solidFill>
                  <a:schemeClr val="tx1"/>
                </a:solidFill>
              </a:rPr>
              <a:t>Abstract</a:t>
            </a:r>
            <a:endParaRPr lang="en-IN" dirty="0">
              <a:solidFill>
                <a:schemeClr val="tx1"/>
              </a:solidFill>
            </a:endParaRPr>
          </a:p>
        </p:txBody>
      </p:sp>
      <p:sp>
        <p:nvSpPr>
          <p:cNvPr id="3" name="Content Placeholder 2">
            <a:extLst>
              <a:ext uri="{FF2B5EF4-FFF2-40B4-BE49-F238E27FC236}">
                <a16:creationId xmlns:a16="http://schemas.microsoft.com/office/drawing/2014/main" id="{FD3BCC17-7D52-0F2A-D2E4-A51CA9F4698B}"/>
              </a:ext>
            </a:extLst>
          </p:cNvPr>
          <p:cNvSpPr>
            <a:spLocks noGrp="1"/>
          </p:cNvSpPr>
          <p:nvPr>
            <p:ph idx="1"/>
          </p:nvPr>
        </p:nvSpPr>
        <p:spPr>
          <a:xfrm>
            <a:off x="677334" y="1567543"/>
            <a:ext cx="8596668" cy="4473819"/>
          </a:xfrm>
        </p:spPr>
        <p:txBody>
          <a:bodyPr/>
          <a:lstStyle/>
          <a:p>
            <a:r>
              <a:rPr lang="en-US" dirty="0">
                <a:latin typeface="Times New Roman" panose="02020603050405020304" pitchFamily="18" charset="0"/>
                <a:cs typeface="Times New Roman" panose="02020603050405020304" pitchFamily="18" charset="0"/>
              </a:rPr>
              <a:t>The current contribution of agriculture to India’s GDP is around 18-19%.</a:t>
            </a:r>
          </a:p>
          <a:p>
            <a:r>
              <a:rPr lang="en-US" dirty="0">
                <a:latin typeface="Times New Roman" panose="02020603050405020304" pitchFamily="18" charset="0"/>
                <a:cs typeface="Times New Roman" panose="02020603050405020304" pitchFamily="18" charset="0"/>
              </a:rPr>
              <a:t>Agriculture is the field which plays an important role in improving our countries economy. </a:t>
            </a:r>
          </a:p>
          <a:p>
            <a:r>
              <a:rPr lang="en-US" dirty="0">
                <a:latin typeface="Times New Roman" panose="02020603050405020304" pitchFamily="18" charset="0"/>
                <a:cs typeface="Times New Roman" panose="02020603050405020304" pitchFamily="18" charset="0"/>
              </a:rPr>
              <a:t>Selecting of every crop is very important in the agriculture planning. The selection of crops will depend upon the different parameters like humidity, temperature, minerals in soil etc. </a:t>
            </a:r>
          </a:p>
          <a:p>
            <a:r>
              <a:rPr lang="en-US" dirty="0">
                <a:latin typeface="Times New Roman" panose="02020603050405020304" pitchFamily="18" charset="0"/>
                <a:cs typeface="Times New Roman" panose="02020603050405020304" pitchFamily="18" charset="0"/>
              </a:rPr>
              <a:t>We can improve agriculture by using machine learning techniques which are applied easily on farming sector. </a:t>
            </a:r>
          </a:p>
          <a:p>
            <a:r>
              <a:rPr lang="en-US" dirty="0">
                <a:latin typeface="Times New Roman" panose="02020603050405020304" pitchFamily="18" charset="0"/>
                <a:cs typeface="Times New Roman" panose="02020603050405020304" pitchFamily="18" charset="0"/>
              </a:rPr>
              <a:t>This improves our Indian economy by maximizing the yield rate of crop production.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032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93188-A72A-FBD7-63C9-C59763C9CC87}"/>
              </a:ext>
            </a:extLst>
          </p:cNvPr>
          <p:cNvSpPr>
            <a:spLocks noGrp="1"/>
          </p:cNvSpPr>
          <p:nvPr>
            <p:ph type="title"/>
          </p:nvPr>
        </p:nvSpPr>
        <p:spPr>
          <a:xfrm>
            <a:off x="677334" y="195944"/>
            <a:ext cx="8596668" cy="674914"/>
          </a:xfrm>
        </p:spPr>
        <p:txBody>
          <a:bodyPr/>
          <a:lstStyle/>
          <a:p>
            <a:r>
              <a:rPr lang="en-US" dirty="0">
                <a:solidFill>
                  <a:schemeClr val="tx1"/>
                </a:solidFill>
              </a:rPr>
              <a:t>Introduction</a:t>
            </a:r>
            <a:endParaRPr lang="en-IN" dirty="0">
              <a:solidFill>
                <a:schemeClr val="tx1"/>
              </a:solidFill>
            </a:endParaRPr>
          </a:p>
        </p:txBody>
      </p:sp>
      <p:sp>
        <p:nvSpPr>
          <p:cNvPr id="3" name="Content Placeholder 2">
            <a:extLst>
              <a:ext uri="{FF2B5EF4-FFF2-40B4-BE49-F238E27FC236}">
                <a16:creationId xmlns:a16="http://schemas.microsoft.com/office/drawing/2014/main" id="{2DCCD810-3646-18AC-776F-405D61F3E575}"/>
              </a:ext>
            </a:extLst>
          </p:cNvPr>
          <p:cNvSpPr>
            <a:spLocks noGrp="1"/>
          </p:cNvSpPr>
          <p:nvPr>
            <p:ph idx="1"/>
          </p:nvPr>
        </p:nvSpPr>
        <p:spPr>
          <a:xfrm>
            <a:off x="250371" y="1480457"/>
            <a:ext cx="9339943" cy="5377543"/>
          </a:xfrm>
        </p:spPr>
        <p:txBody>
          <a:bodyPr>
            <a:normAutofit/>
          </a:bodyPr>
          <a:lstStyle/>
          <a:p>
            <a:r>
              <a:rPr lang="en-US" dirty="0">
                <a:latin typeface="Times New Roman" panose="02020603050405020304" pitchFamily="18" charset="0"/>
                <a:cs typeface="Times New Roman" panose="02020603050405020304" pitchFamily="18" charset="0"/>
              </a:rPr>
              <a:t>Crop analysis and prediction is a rapidly growing field which is vital in optimizing agricultural practices.</a:t>
            </a:r>
          </a:p>
          <a:p>
            <a:r>
              <a:rPr lang="en-US" dirty="0">
                <a:latin typeface="Times New Roman" panose="02020603050405020304" pitchFamily="18" charset="0"/>
                <a:cs typeface="Times New Roman" panose="02020603050405020304" pitchFamily="18" charset="0"/>
              </a:rPr>
              <a:t> Crop recommendation is pivotal in agriculture, empowering farmers to make informed decisions about the most suitable crops for their land and climate conditions.</a:t>
            </a:r>
          </a:p>
          <a:p>
            <a:r>
              <a:rPr lang="en-US" dirty="0">
                <a:latin typeface="Times New Roman" panose="02020603050405020304" pitchFamily="18" charset="0"/>
                <a:cs typeface="Times New Roman" panose="02020603050405020304" pitchFamily="18" charset="0"/>
              </a:rPr>
              <a:t> Traditionally, this process heavily relied on expert knowledge, which proved time-consuming and labor-intensive.</a:t>
            </a:r>
          </a:p>
          <a:p>
            <a:r>
              <a:rPr lang="en-US" dirty="0">
                <a:latin typeface="Times New Roman" panose="02020603050405020304" pitchFamily="18" charset="0"/>
                <a:cs typeface="Times New Roman" panose="02020603050405020304" pitchFamily="18" charset="0"/>
              </a:rPr>
              <a:t> Moreover, considering the projected global population of 9.7 billion by 2050, the need to produce more food sustainably becomes imperative.</a:t>
            </a:r>
          </a:p>
          <a:p>
            <a:r>
              <a:rPr lang="en-US" dirty="0">
                <a:latin typeface="Times New Roman" panose="02020603050405020304" pitchFamily="18" charset="0"/>
                <a:cs typeface="Times New Roman" panose="02020603050405020304" pitchFamily="18" charset="0"/>
              </a:rPr>
              <a:t> Machine learning technique scan play a crucial role in effectively automating crop recommendations and detecting pests and diseases to enable farmers to optimize their yield from the land while simultaneously maintaining soil fertility and replenishing essential nutrients.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670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52A1-0451-2884-D72C-C61E11E9CBA7}"/>
              </a:ext>
            </a:extLst>
          </p:cNvPr>
          <p:cNvSpPr>
            <a:spLocks noGrp="1"/>
          </p:cNvSpPr>
          <p:nvPr>
            <p:ph type="title"/>
          </p:nvPr>
        </p:nvSpPr>
        <p:spPr/>
        <p:txBody>
          <a:bodyPr/>
          <a:lstStyle/>
          <a:p>
            <a:r>
              <a:rPr lang="en-US" dirty="0">
                <a:solidFill>
                  <a:schemeClr val="tx1"/>
                </a:solidFill>
              </a:rPr>
              <a:t>Existing System</a:t>
            </a:r>
            <a:endParaRPr lang="en-IN" dirty="0">
              <a:solidFill>
                <a:schemeClr val="tx1"/>
              </a:solidFill>
            </a:endParaRPr>
          </a:p>
        </p:txBody>
      </p:sp>
      <p:sp>
        <p:nvSpPr>
          <p:cNvPr id="3" name="Content Placeholder 2">
            <a:extLst>
              <a:ext uri="{FF2B5EF4-FFF2-40B4-BE49-F238E27FC236}">
                <a16:creationId xmlns:a16="http://schemas.microsoft.com/office/drawing/2014/main" id="{698939D4-9AC5-D931-CB2C-A0FE7D974EC2}"/>
              </a:ext>
            </a:extLst>
          </p:cNvPr>
          <p:cNvSpPr>
            <a:spLocks noGrp="1"/>
          </p:cNvSpPr>
          <p:nvPr>
            <p:ph idx="1"/>
          </p:nvPr>
        </p:nvSpPr>
        <p:spPr/>
        <p:txBody>
          <a:bodyPr/>
          <a:lstStyle/>
          <a:p>
            <a:r>
              <a:rPr lang="en-US" dirty="0"/>
              <a:t>The existing systems only predict yield based on input of total area of farm land in hectares but this systems doesn’t predict best suitable and profitable crop ,doesn’t suggest fertilizers and doesn’t calculate the total value of the crop.</a:t>
            </a:r>
          </a:p>
          <a:p>
            <a:r>
              <a:rPr lang="en-US" dirty="0"/>
              <a:t>These systems are built on predefined rules and guidelines. Experts determine the rules based on their knowledge and experience. For example, if the soil pH is X, and the temperature is Y, recommend crop Z.</a:t>
            </a:r>
          </a:p>
          <a:p>
            <a:r>
              <a:rPr lang="en-US" dirty="0"/>
              <a:t> These systems rely on a database of agricultural knowledge. They use this knowledge to make recommendations. However, they lack the ability to adapt and learn from new data.</a:t>
            </a:r>
            <a:endParaRPr lang="en-IN" dirty="0"/>
          </a:p>
        </p:txBody>
      </p:sp>
    </p:spTree>
    <p:extLst>
      <p:ext uri="{BB962C8B-B14F-4D97-AF65-F5344CB8AC3E}">
        <p14:creationId xmlns:p14="http://schemas.microsoft.com/office/powerpoint/2010/main" val="2822243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0A46-A7FC-AFB5-5408-9636849C3CDE}"/>
              </a:ext>
            </a:extLst>
          </p:cNvPr>
          <p:cNvSpPr>
            <a:spLocks noGrp="1"/>
          </p:cNvSpPr>
          <p:nvPr>
            <p:ph type="title"/>
          </p:nvPr>
        </p:nvSpPr>
        <p:spPr/>
        <p:txBody>
          <a:bodyPr/>
          <a:lstStyle/>
          <a:p>
            <a:r>
              <a:rPr lang="en-US" dirty="0">
                <a:solidFill>
                  <a:schemeClr val="tx1"/>
                </a:solidFill>
              </a:rPr>
              <a:t>Advantages</a:t>
            </a:r>
            <a:endParaRPr lang="en-IN" dirty="0">
              <a:solidFill>
                <a:schemeClr val="tx1"/>
              </a:solidFill>
            </a:endParaRPr>
          </a:p>
        </p:txBody>
      </p:sp>
      <p:sp>
        <p:nvSpPr>
          <p:cNvPr id="3" name="Content Placeholder 2">
            <a:extLst>
              <a:ext uri="{FF2B5EF4-FFF2-40B4-BE49-F238E27FC236}">
                <a16:creationId xmlns:a16="http://schemas.microsoft.com/office/drawing/2014/main" id="{E26D49B3-F9E6-6DF8-429D-B1ED1593AC03}"/>
              </a:ext>
            </a:extLst>
          </p:cNvPr>
          <p:cNvSpPr>
            <a:spLocks noGrp="1"/>
          </p:cNvSpPr>
          <p:nvPr>
            <p:ph idx="1"/>
          </p:nvPr>
        </p:nvSpPr>
        <p:spPr/>
        <p:txBody>
          <a:bodyPr/>
          <a:lstStyle/>
          <a:p>
            <a:r>
              <a:rPr lang="en-US" dirty="0"/>
              <a:t>Existing systems are often straightforward to understand and implement.</a:t>
            </a:r>
          </a:p>
          <a:p>
            <a:r>
              <a:rPr lang="en-US" dirty="0"/>
              <a:t>These systems typically do not require powerful computational resources.</a:t>
            </a:r>
          </a:p>
          <a:p>
            <a:r>
              <a:rPr lang="en-US" dirty="0"/>
              <a:t>The recommendations generated by existing systems are usually easy to interpret because they are based on explicit rules or knowledge.</a:t>
            </a:r>
          </a:p>
          <a:p>
            <a:r>
              <a:rPr lang="en-US" dirty="0"/>
              <a:t>Existing systems often incorporate knowledge and expertise from agricultural scientists and agronomists</a:t>
            </a:r>
            <a:endParaRPr lang="en-IN" dirty="0"/>
          </a:p>
        </p:txBody>
      </p:sp>
    </p:spTree>
    <p:extLst>
      <p:ext uri="{BB962C8B-B14F-4D97-AF65-F5344CB8AC3E}">
        <p14:creationId xmlns:p14="http://schemas.microsoft.com/office/powerpoint/2010/main" val="1820864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14560-5B09-FD54-AD03-37DCC89E966E}"/>
              </a:ext>
            </a:extLst>
          </p:cNvPr>
          <p:cNvSpPr>
            <a:spLocks noGrp="1"/>
          </p:cNvSpPr>
          <p:nvPr>
            <p:ph type="title"/>
          </p:nvPr>
        </p:nvSpPr>
        <p:spPr/>
        <p:txBody>
          <a:bodyPr/>
          <a:lstStyle/>
          <a:p>
            <a:r>
              <a:rPr lang="en-US" dirty="0">
                <a:solidFill>
                  <a:schemeClr val="tx2"/>
                </a:solidFill>
              </a:rPr>
              <a:t>Disadvantages</a:t>
            </a:r>
            <a:endParaRPr lang="en-IN" dirty="0">
              <a:solidFill>
                <a:schemeClr val="tx2"/>
              </a:solidFill>
            </a:endParaRPr>
          </a:p>
        </p:txBody>
      </p:sp>
      <p:sp>
        <p:nvSpPr>
          <p:cNvPr id="3" name="Content Placeholder 2">
            <a:extLst>
              <a:ext uri="{FF2B5EF4-FFF2-40B4-BE49-F238E27FC236}">
                <a16:creationId xmlns:a16="http://schemas.microsoft.com/office/drawing/2014/main" id="{A383CEF8-2B26-B1EF-52A9-A7391CB4D1A1}"/>
              </a:ext>
            </a:extLst>
          </p:cNvPr>
          <p:cNvSpPr>
            <a:spLocks noGrp="1"/>
          </p:cNvSpPr>
          <p:nvPr>
            <p:ph idx="1"/>
          </p:nvPr>
        </p:nvSpPr>
        <p:spPr/>
        <p:txBody>
          <a:bodyPr/>
          <a:lstStyle/>
          <a:p>
            <a:r>
              <a:rPr lang="en-US" dirty="0"/>
              <a:t>Existing systems lack adaptability to changing conditions or new data. They are unable to learn from experience or adjust recommendations based on evolving circumstances.</a:t>
            </a:r>
          </a:p>
          <a:p>
            <a:r>
              <a:rPr lang="en-US" dirty="0"/>
              <a:t>Compared to machine learning-based systems, existing systems are generally less accurate.</a:t>
            </a:r>
          </a:p>
          <a:p>
            <a:r>
              <a:rPr lang="en-US" dirty="0"/>
              <a:t>The fixed nature of existing systems means they cannot account for nuanced or complex situations. They may overlook unique conditions or factors specific to certain regions or farms.</a:t>
            </a:r>
            <a:endParaRPr lang="en-IN" dirty="0"/>
          </a:p>
        </p:txBody>
      </p:sp>
    </p:spTree>
    <p:extLst>
      <p:ext uri="{BB962C8B-B14F-4D97-AF65-F5344CB8AC3E}">
        <p14:creationId xmlns:p14="http://schemas.microsoft.com/office/powerpoint/2010/main" val="4253519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5A0F-FDBD-5001-7B63-E045A8DCD912}"/>
              </a:ext>
            </a:extLst>
          </p:cNvPr>
          <p:cNvSpPr>
            <a:spLocks noGrp="1"/>
          </p:cNvSpPr>
          <p:nvPr>
            <p:ph type="title"/>
          </p:nvPr>
        </p:nvSpPr>
        <p:spPr/>
        <p:txBody>
          <a:bodyPr/>
          <a:lstStyle/>
          <a:p>
            <a:r>
              <a:rPr lang="en-US" dirty="0">
                <a:solidFill>
                  <a:schemeClr val="tx2"/>
                </a:solidFill>
              </a:rPr>
              <a:t>Proposed System</a:t>
            </a:r>
            <a:endParaRPr lang="en-IN" dirty="0">
              <a:solidFill>
                <a:schemeClr val="tx2"/>
              </a:solidFill>
            </a:endParaRPr>
          </a:p>
        </p:txBody>
      </p:sp>
      <p:sp>
        <p:nvSpPr>
          <p:cNvPr id="3" name="Content Placeholder 2">
            <a:extLst>
              <a:ext uri="{FF2B5EF4-FFF2-40B4-BE49-F238E27FC236}">
                <a16:creationId xmlns:a16="http://schemas.microsoft.com/office/drawing/2014/main" id="{6F138C0D-4481-2239-AEAD-1B0A26FF3138}"/>
              </a:ext>
            </a:extLst>
          </p:cNvPr>
          <p:cNvSpPr>
            <a:spLocks noGrp="1"/>
          </p:cNvSpPr>
          <p:nvPr>
            <p:ph idx="1"/>
          </p:nvPr>
        </p:nvSpPr>
        <p:spPr/>
        <p:txBody>
          <a:bodyPr/>
          <a:lstStyle/>
          <a:p>
            <a:r>
              <a:rPr lang="en-US" dirty="0"/>
              <a:t>We have considered some machine learning models which are </a:t>
            </a:r>
            <a:r>
              <a:rPr lang="en-US" b="1" dirty="0"/>
              <a:t>Logistic Regression,  Support Vector Machine, Random Forest, Naive Bayes method and K- Nearest Neighbor</a:t>
            </a:r>
            <a:r>
              <a:rPr lang="en-US" dirty="0"/>
              <a:t>. Using these methods we can predict which crops to be selected for our land. In this application we can make prediction of the suitable crop by giving input as humidity, temperature, pH, rainfall, and some minerals in soil like potassium, phosphorus and Nitrogen.</a:t>
            </a:r>
          </a:p>
          <a:p>
            <a:r>
              <a:rPr lang="en-US" dirty="0"/>
              <a:t>We can process large datasets and extract complex relationship between variables.</a:t>
            </a:r>
          </a:p>
          <a:p>
            <a:r>
              <a:rPr lang="en-US" dirty="0"/>
              <a:t>Machine learning algorithm often provide more accurate recommendations compared to rule-based systems, and can learn from past successes and failures.</a:t>
            </a:r>
            <a:endParaRPr lang="en-IN" dirty="0"/>
          </a:p>
        </p:txBody>
      </p:sp>
    </p:spTree>
    <p:extLst>
      <p:ext uri="{BB962C8B-B14F-4D97-AF65-F5344CB8AC3E}">
        <p14:creationId xmlns:p14="http://schemas.microsoft.com/office/powerpoint/2010/main" val="3593680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94A3D-6F2D-51F3-3059-E2B7DDC19C93}"/>
              </a:ext>
            </a:extLst>
          </p:cNvPr>
          <p:cNvSpPr>
            <a:spLocks noGrp="1"/>
          </p:cNvSpPr>
          <p:nvPr>
            <p:ph type="title"/>
          </p:nvPr>
        </p:nvSpPr>
        <p:spPr/>
        <p:txBody>
          <a:bodyPr/>
          <a:lstStyle/>
          <a:p>
            <a:r>
              <a:rPr lang="en-US" dirty="0">
                <a:solidFill>
                  <a:schemeClr val="tx2"/>
                </a:solidFill>
              </a:rPr>
              <a:t>Data Flow Diagram </a:t>
            </a:r>
            <a:endParaRPr lang="en-IN" dirty="0">
              <a:solidFill>
                <a:schemeClr val="tx2"/>
              </a:solidFill>
            </a:endParaRPr>
          </a:p>
        </p:txBody>
      </p:sp>
      <p:pic>
        <p:nvPicPr>
          <p:cNvPr id="5" name="Content Placeholder 4">
            <a:extLst>
              <a:ext uri="{FF2B5EF4-FFF2-40B4-BE49-F238E27FC236}">
                <a16:creationId xmlns:a16="http://schemas.microsoft.com/office/drawing/2014/main" id="{31404146-171B-DB42-AA99-8484CFEDEF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458685"/>
            <a:ext cx="9503228" cy="4927600"/>
          </a:xfrm>
        </p:spPr>
      </p:pic>
    </p:spTree>
    <p:extLst>
      <p:ext uri="{BB962C8B-B14F-4D97-AF65-F5344CB8AC3E}">
        <p14:creationId xmlns:p14="http://schemas.microsoft.com/office/powerpoint/2010/main" val="1537182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09E9-994A-F175-A92B-139073795DAE}"/>
              </a:ext>
            </a:extLst>
          </p:cNvPr>
          <p:cNvSpPr>
            <a:spLocks noGrp="1"/>
          </p:cNvSpPr>
          <p:nvPr>
            <p:ph type="title"/>
          </p:nvPr>
        </p:nvSpPr>
        <p:spPr/>
        <p:txBody>
          <a:bodyPr/>
          <a:lstStyle/>
          <a:p>
            <a:r>
              <a:rPr lang="en-US" dirty="0">
                <a:solidFill>
                  <a:schemeClr val="tx2"/>
                </a:solidFill>
              </a:rPr>
              <a:t>Methodology</a:t>
            </a:r>
            <a:endParaRPr lang="en-IN" dirty="0">
              <a:solidFill>
                <a:schemeClr val="tx2"/>
              </a:solidFill>
            </a:endParaRPr>
          </a:p>
        </p:txBody>
      </p:sp>
      <p:sp>
        <p:nvSpPr>
          <p:cNvPr id="3" name="Content Placeholder 2">
            <a:extLst>
              <a:ext uri="{FF2B5EF4-FFF2-40B4-BE49-F238E27FC236}">
                <a16:creationId xmlns:a16="http://schemas.microsoft.com/office/drawing/2014/main" id="{A18474E8-D85F-155B-181B-E2935184EAF2}"/>
              </a:ext>
            </a:extLst>
          </p:cNvPr>
          <p:cNvSpPr>
            <a:spLocks noGrp="1"/>
          </p:cNvSpPr>
          <p:nvPr>
            <p:ph idx="1"/>
          </p:nvPr>
        </p:nvSpPr>
        <p:spPr/>
        <p:txBody>
          <a:bodyPr>
            <a:normAutofit/>
          </a:bodyPr>
          <a:lstStyle/>
          <a:p>
            <a:pPr marL="0" indent="0">
              <a:buNone/>
            </a:pPr>
            <a:r>
              <a:rPr lang="en-US" dirty="0"/>
              <a:t>This section presents an overview of the methodology, we have used to train various models. First, we iterated all the following steps with all the selected machine learning algorithms listed previously:</a:t>
            </a:r>
          </a:p>
          <a:p>
            <a:pPr marL="0" indent="0">
              <a:buNone/>
            </a:pPr>
            <a:r>
              <a:rPr lang="en-US" b="1" dirty="0"/>
              <a:t>1)Input Data: </a:t>
            </a:r>
            <a:r>
              <a:rPr lang="en-US" dirty="0"/>
              <a:t>Because the quality and quantity of the data significantly impact a model’s accuracy, we ensured the data was clean and well-</a:t>
            </a:r>
            <a:r>
              <a:rPr lang="en-US" dirty="0" err="1"/>
              <a:t>labeled.The</a:t>
            </a:r>
            <a:r>
              <a:rPr lang="en-US" dirty="0"/>
              <a:t> input to the system is a combination of soil and environmental characteristics.</a:t>
            </a:r>
          </a:p>
          <a:p>
            <a:pPr marL="0" indent="0">
              <a:buNone/>
            </a:pPr>
            <a:endParaRPr lang="en-US" dirty="0"/>
          </a:p>
          <a:p>
            <a:endParaRPr lang="en-IN" dirty="0"/>
          </a:p>
        </p:txBody>
      </p:sp>
      <p:pic>
        <p:nvPicPr>
          <p:cNvPr id="5" name="Picture 4">
            <a:extLst>
              <a:ext uri="{FF2B5EF4-FFF2-40B4-BE49-F238E27FC236}">
                <a16:creationId xmlns:a16="http://schemas.microsoft.com/office/drawing/2014/main" id="{FB3D3F34-CE35-874E-60A0-38F1FDB3C77B}"/>
              </a:ext>
            </a:extLst>
          </p:cNvPr>
          <p:cNvPicPr>
            <a:picLocks noChangeAspect="1"/>
          </p:cNvPicPr>
          <p:nvPr/>
        </p:nvPicPr>
        <p:blipFill>
          <a:blip r:embed="rId2"/>
          <a:stretch>
            <a:fillRect/>
          </a:stretch>
        </p:blipFill>
        <p:spPr>
          <a:xfrm>
            <a:off x="1232033" y="4389119"/>
            <a:ext cx="8041969" cy="2242687"/>
          </a:xfrm>
          <a:prstGeom prst="rect">
            <a:avLst/>
          </a:prstGeom>
        </p:spPr>
      </p:pic>
    </p:spTree>
    <p:extLst>
      <p:ext uri="{BB962C8B-B14F-4D97-AF65-F5344CB8AC3E}">
        <p14:creationId xmlns:p14="http://schemas.microsoft.com/office/powerpoint/2010/main" val="1772303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148EAD9-5892-F147-5399-09A461A62A5A}"/>
              </a:ext>
            </a:extLst>
          </p:cNvPr>
          <p:cNvPicPr>
            <a:picLocks noGrp="1" noChangeAspect="1"/>
          </p:cNvPicPr>
          <p:nvPr>
            <p:ph idx="1"/>
          </p:nvPr>
        </p:nvPicPr>
        <p:blipFill>
          <a:blip r:embed="rId2"/>
          <a:stretch>
            <a:fillRect/>
          </a:stretch>
        </p:blipFill>
        <p:spPr>
          <a:xfrm>
            <a:off x="1963510" y="924026"/>
            <a:ext cx="4235159" cy="5486400"/>
          </a:xfrm>
        </p:spPr>
      </p:pic>
    </p:spTree>
    <p:extLst>
      <p:ext uri="{BB962C8B-B14F-4D97-AF65-F5344CB8AC3E}">
        <p14:creationId xmlns:p14="http://schemas.microsoft.com/office/powerpoint/2010/main" val="3331711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B2810-803E-4432-A908-61AD17A18E70}"/>
              </a:ext>
            </a:extLst>
          </p:cNvPr>
          <p:cNvSpPr>
            <a:spLocks noGrp="1"/>
          </p:cNvSpPr>
          <p:nvPr>
            <p:ph idx="1"/>
          </p:nvPr>
        </p:nvSpPr>
        <p:spPr>
          <a:xfrm>
            <a:off x="677334" y="577516"/>
            <a:ext cx="8596668" cy="5909911"/>
          </a:xfrm>
        </p:spPr>
        <p:txBody>
          <a:bodyPr>
            <a:normAutofit/>
          </a:bodyPr>
          <a:lstStyle/>
          <a:p>
            <a:r>
              <a:rPr lang="en-US" b="1" dirty="0"/>
              <a:t>2) Preprocessing: </a:t>
            </a:r>
            <a:r>
              <a:rPr lang="en-US" dirty="0"/>
              <a:t>We cleaned the data, removed outliers, and transformed the data into a format that your machine learning algorithm could understand. We primarily removed all null and duplicate records, segregated features from the label column, creating new features from existing features (also called feature engineering), and described &amp; plotted all the data to ensure no outliers. </a:t>
            </a:r>
          </a:p>
          <a:p>
            <a:r>
              <a:rPr lang="en-US" dirty="0"/>
              <a:t>3) </a:t>
            </a:r>
            <a:r>
              <a:rPr lang="en-US" b="1" dirty="0"/>
              <a:t>Choose a machine learning algorithm: </a:t>
            </a:r>
            <a:r>
              <a:rPr lang="en-US" dirty="0"/>
              <a:t>In each iteration, we chose one of the six algorithms we had decided to use. For every selected algorithm, we iterated steps from preprocessing to testing or validating the model to tune the model. </a:t>
            </a:r>
          </a:p>
          <a:p>
            <a:r>
              <a:rPr lang="en-US" dirty="0"/>
              <a:t>1) Logistic Regression. </a:t>
            </a:r>
          </a:p>
          <a:p>
            <a:r>
              <a:rPr lang="en-US" dirty="0"/>
              <a:t>2) Decision Tree. </a:t>
            </a:r>
          </a:p>
          <a:p>
            <a:r>
              <a:rPr lang="en-US" dirty="0"/>
              <a:t>3) Random Forest. </a:t>
            </a:r>
          </a:p>
          <a:p>
            <a:r>
              <a:rPr lang="en-US" dirty="0"/>
              <a:t>4) K-Nearest Neighbors. </a:t>
            </a:r>
          </a:p>
          <a:p>
            <a:r>
              <a:rPr lang="en-US" dirty="0"/>
              <a:t>5) Naive Bayes.</a:t>
            </a:r>
          </a:p>
          <a:p>
            <a:r>
              <a:rPr lang="en-US" dirty="0"/>
              <a:t>6) SVM. </a:t>
            </a:r>
          </a:p>
          <a:p>
            <a:endParaRPr lang="en-US" dirty="0"/>
          </a:p>
        </p:txBody>
      </p:sp>
    </p:spTree>
    <p:extLst>
      <p:ext uri="{BB962C8B-B14F-4D97-AF65-F5344CB8AC3E}">
        <p14:creationId xmlns:p14="http://schemas.microsoft.com/office/powerpoint/2010/main" val="1812676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D1791C-66BA-ABBB-8036-F0233C4793B6}"/>
              </a:ext>
            </a:extLst>
          </p:cNvPr>
          <p:cNvSpPr>
            <a:spLocks noGrp="1"/>
          </p:cNvSpPr>
          <p:nvPr>
            <p:ph idx="1"/>
          </p:nvPr>
        </p:nvSpPr>
        <p:spPr>
          <a:xfrm>
            <a:off x="677334" y="721895"/>
            <a:ext cx="8596668" cy="5319467"/>
          </a:xfrm>
        </p:spPr>
        <p:txBody>
          <a:bodyPr>
            <a:normAutofit fontScale="92500" lnSpcReduction="10000"/>
          </a:bodyPr>
          <a:lstStyle/>
          <a:p>
            <a:r>
              <a:rPr lang="en-US" b="1" dirty="0"/>
              <a:t>4) Model Configurations: </a:t>
            </a:r>
            <a:r>
              <a:rPr lang="en-US" dirty="0"/>
              <a:t>To achieve higher test and cross validation accuracy, we used various configurations such as activation function, epoch, decision tree depth, and a number of nearest neighbors. Figure V shows some other important configurations. Note that we have to keep in mind the performance of the model also; for example, increasing the decision tree’s depth could cause to degrade the performance of the mode; Similarly, increasing the value of the number of time data should be fed to the neural network model will also highly impact the performance of the model.</a:t>
            </a:r>
          </a:p>
          <a:p>
            <a:endParaRPr lang="en-US" b="1" dirty="0"/>
          </a:p>
          <a:p>
            <a:r>
              <a:rPr lang="en-US" b="1" dirty="0"/>
              <a:t>5) Training Models: </a:t>
            </a:r>
            <a:r>
              <a:rPr lang="en-US" dirty="0"/>
              <a:t>This is where the machine learning algorithm learns from the data prepared in the "Preprocessing" step. </a:t>
            </a:r>
            <a:endParaRPr lang="en-US" b="1" dirty="0"/>
          </a:p>
          <a:p>
            <a:pPr marL="0" indent="0">
              <a:buNone/>
            </a:pPr>
            <a:endParaRPr lang="en-US" b="1" dirty="0"/>
          </a:p>
          <a:p>
            <a:r>
              <a:rPr lang="en-US" b="1" dirty="0"/>
              <a:t>6) Testing Accuracy of the Model: </a:t>
            </a:r>
            <a:r>
              <a:rPr lang="en-US" dirty="0"/>
              <a:t>We evaluate the accuracy of the created model against the test data. In addition, we measured the cross-validation accuracy of the model. If the accuracy is unsatisfactory, we iterate the process by returning to the "Model Configuration" step. In some instances, we experimented with the feature engineering approach. Suppose the model’s accuracy and performance are good at this step. In that case, we return to choosing a new algorithm step to repeat the same procedure with another advanced machine learning algorithm.</a:t>
            </a:r>
            <a:endParaRPr lang="en-IN" dirty="0"/>
          </a:p>
        </p:txBody>
      </p:sp>
    </p:spTree>
    <p:extLst>
      <p:ext uri="{BB962C8B-B14F-4D97-AF65-F5344CB8AC3E}">
        <p14:creationId xmlns:p14="http://schemas.microsoft.com/office/powerpoint/2010/main" val="1418397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3C6-2664-0B8D-7044-D23ACF0BBAB2}"/>
              </a:ext>
            </a:extLst>
          </p:cNvPr>
          <p:cNvSpPr>
            <a:spLocks noGrp="1"/>
          </p:cNvSpPr>
          <p:nvPr>
            <p:ph type="title"/>
          </p:nvPr>
        </p:nvSpPr>
        <p:spPr>
          <a:xfrm>
            <a:off x="677334" y="609600"/>
            <a:ext cx="8596668" cy="901566"/>
          </a:xfrm>
        </p:spPr>
        <p:txBody>
          <a:bodyPr>
            <a:normAutofit fontScale="90000"/>
          </a:bodyPr>
          <a:lstStyle/>
          <a:p>
            <a:r>
              <a:rPr lang="en-US" dirty="0">
                <a:solidFill>
                  <a:schemeClr val="tx2"/>
                </a:solidFill>
              </a:rPr>
              <a:t>Machine Learning Algorithms</a:t>
            </a:r>
            <a:br>
              <a:rPr lang="en-US" dirty="0">
                <a:solidFill>
                  <a:schemeClr val="tx2"/>
                </a:solidFill>
              </a:rPr>
            </a:br>
            <a:endParaRPr lang="en-IN" dirty="0">
              <a:solidFill>
                <a:schemeClr val="tx2"/>
              </a:solidFill>
            </a:endParaRPr>
          </a:p>
        </p:txBody>
      </p:sp>
      <p:sp>
        <p:nvSpPr>
          <p:cNvPr id="7" name="Content Placeholder 6">
            <a:extLst>
              <a:ext uri="{FF2B5EF4-FFF2-40B4-BE49-F238E27FC236}">
                <a16:creationId xmlns:a16="http://schemas.microsoft.com/office/drawing/2014/main" id="{5FBC1E31-6398-5B31-655C-DD5B1CA60223}"/>
              </a:ext>
            </a:extLst>
          </p:cNvPr>
          <p:cNvSpPr>
            <a:spLocks noGrp="1"/>
          </p:cNvSpPr>
          <p:nvPr>
            <p:ph idx="1"/>
          </p:nvPr>
        </p:nvSpPr>
        <p:spPr>
          <a:xfrm>
            <a:off x="802461" y="1434122"/>
            <a:ext cx="8827241" cy="7073200"/>
          </a:xfrm>
        </p:spPr>
        <p:txBody>
          <a:bodyPr/>
          <a:lstStyle/>
          <a:p>
            <a:pPr marL="0" indent="0" algn="l" rtl="0" fontAlgn="base">
              <a:buNone/>
            </a:pPr>
            <a:r>
              <a:rPr lang="en-US" b="1" i="0" dirty="0">
                <a:solidFill>
                  <a:schemeClr val="tx1"/>
                </a:solidFill>
                <a:effectLst/>
                <a:highlight>
                  <a:srgbClr val="FFFFFF"/>
                </a:highlight>
                <a:latin typeface="Nunito" pitchFamily="2" charset="0"/>
              </a:rPr>
              <a:t>Logistic Regression</a:t>
            </a:r>
          </a:p>
          <a:p>
            <a:pPr algn="l" rtl="0" fontAlgn="base"/>
            <a:r>
              <a:rPr lang="en-US" b="0" i="0" dirty="0">
                <a:solidFill>
                  <a:srgbClr val="273239"/>
                </a:solidFill>
                <a:effectLst/>
                <a:highlight>
                  <a:srgbClr val="FFFFFF"/>
                </a:highlight>
                <a:latin typeface="Nunito" pitchFamily="2" charset="0"/>
              </a:rPr>
              <a:t>Logistic regression is used for binary </a:t>
            </a:r>
            <a:r>
              <a:rPr lang="en-US" b="0" i="0" u="sng" dirty="0">
                <a:solidFill>
                  <a:srgbClr val="273239"/>
                </a:solidFill>
                <a:effectLst/>
                <a:highlight>
                  <a:srgbClr val="FFFFFF"/>
                </a:highlight>
                <a:latin typeface="Nunito" pitchFamily="2" charset="0"/>
                <a:hlinkClick r:id="rId2"/>
              </a:rPr>
              <a:t>classification</a:t>
            </a:r>
            <a:r>
              <a:rPr lang="en-US" b="0" i="0" dirty="0">
                <a:solidFill>
                  <a:srgbClr val="273239"/>
                </a:solidFill>
                <a:effectLst/>
                <a:highlight>
                  <a:srgbClr val="FFFFFF"/>
                </a:highlight>
                <a:latin typeface="Nunito" pitchFamily="2" charset="0"/>
              </a:rPr>
              <a:t> where we use </a:t>
            </a:r>
            <a:r>
              <a:rPr lang="en-US" b="0" i="0" u="sng" dirty="0">
                <a:solidFill>
                  <a:srgbClr val="273239"/>
                </a:solidFill>
                <a:effectLst/>
                <a:highlight>
                  <a:srgbClr val="FFFFFF"/>
                </a:highlight>
                <a:latin typeface="Nunito" pitchFamily="2" charset="0"/>
                <a:hlinkClick r:id="rId3"/>
              </a:rPr>
              <a:t>sigmoid function</a:t>
            </a:r>
            <a:r>
              <a:rPr lang="en-US" b="0" i="0" dirty="0">
                <a:solidFill>
                  <a:srgbClr val="273239"/>
                </a:solidFill>
                <a:effectLst/>
                <a:highlight>
                  <a:srgbClr val="FFFFFF"/>
                </a:highlight>
                <a:latin typeface="Nunito" pitchFamily="2" charset="0"/>
              </a:rPr>
              <a:t>, that takes input as independent variables and produces a probability value between 0 and 1.</a:t>
            </a:r>
          </a:p>
          <a:p>
            <a:pPr algn="l" rtl="0" fontAlgn="base"/>
            <a:r>
              <a:rPr lang="en-US" b="0" i="0" dirty="0">
                <a:solidFill>
                  <a:srgbClr val="273239"/>
                </a:solidFill>
                <a:effectLst/>
                <a:highlight>
                  <a:srgbClr val="FFFFFF"/>
                </a:highlight>
                <a:latin typeface="Nunito" pitchFamily="2" charset="0"/>
              </a:rPr>
              <a:t>For example, we have two classes Class 0 and Class 1 if the value of the logistic function for an input is greater than 0.5 (threshold value) then it belongs to Class 1 otherwise it belongs to Class 0. It’s referred to as regression because it is the extension of</a:t>
            </a:r>
            <a:r>
              <a:rPr lang="en-US" b="0" i="0" u="sng" dirty="0">
                <a:solidFill>
                  <a:srgbClr val="273239"/>
                </a:solidFill>
                <a:effectLst/>
                <a:highlight>
                  <a:srgbClr val="FFFFFF"/>
                </a:highlight>
                <a:latin typeface="Nunito" pitchFamily="2" charset="0"/>
                <a:hlinkClick r:id="rId4"/>
              </a:rPr>
              <a:t> linear regression</a:t>
            </a:r>
            <a:r>
              <a:rPr lang="en-US" b="0" i="0" dirty="0">
                <a:solidFill>
                  <a:srgbClr val="273239"/>
                </a:solidFill>
                <a:effectLst/>
                <a:highlight>
                  <a:srgbClr val="FFFFFF"/>
                </a:highlight>
                <a:latin typeface="Nunito" pitchFamily="2" charset="0"/>
              </a:rPr>
              <a:t> but is mainly used for classification problems.</a:t>
            </a:r>
          </a:p>
          <a:p>
            <a:pPr marL="0" indent="0">
              <a:buNone/>
            </a:pPr>
            <a:endParaRPr lang="en-US" b="1" dirty="0"/>
          </a:p>
          <a:p>
            <a:pPr marL="0" indent="0">
              <a:buNone/>
            </a:pPr>
            <a:r>
              <a:rPr lang="en-US" b="1" dirty="0"/>
              <a:t>    </a:t>
            </a:r>
          </a:p>
        </p:txBody>
      </p:sp>
      <p:pic>
        <p:nvPicPr>
          <p:cNvPr id="2054" name="Picture 6" descr="Logistic Regression in Machine Learning - Javatpoint">
            <a:extLst>
              <a:ext uri="{FF2B5EF4-FFF2-40B4-BE49-F238E27FC236}">
                <a16:creationId xmlns:a16="http://schemas.microsoft.com/office/drawing/2014/main" id="{78470349-04A4-612C-9723-950F6D9638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6956" y="3850105"/>
            <a:ext cx="4890236" cy="2608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8677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212FA-9B22-A3E4-FC58-03C116E7E974}"/>
              </a:ext>
            </a:extLst>
          </p:cNvPr>
          <p:cNvSpPr>
            <a:spLocks noGrp="1"/>
          </p:cNvSpPr>
          <p:nvPr>
            <p:ph idx="1"/>
          </p:nvPr>
        </p:nvSpPr>
        <p:spPr>
          <a:xfrm>
            <a:off x="677334" y="519765"/>
            <a:ext cx="8596668" cy="5521598"/>
          </a:xfrm>
        </p:spPr>
        <p:txBody>
          <a:bodyPr/>
          <a:lstStyle/>
          <a:p>
            <a:pPr marL="0" indent="0">
              <a:buNone/>
            </a:pPr>
            <a:r>
              <a:rPr lang="en-US" b="1" dirty="0"/>
              <a:t>Decision Tree </a:t>
            </a:r>
          </a:p>
          <a:p>
            <a:pPr algn="just">
              <a:buFont typeface="Arial" panose="020B0604020202020204" pitchFamily="34" charset="0"/>
              <a:buChar char="•"/>
            </a:pPr>
            <a:r>
              <a:rPr lang="en-US" b="0" i="0" dirty="0">
                <a:solidFill>
                  <a:srgbClr val="000000"/>
                </a:solidFill>
                <a:effectLst/>
                <a:highlight>
                  <a:srgbClr val="FFFFFF"/>
                </a:highlight>
                <a:latin typeface="inter-regular"/>
              </a:rPr>
              <a:t>Decision Tree is a </a:t>
            </a:r>
            <a:r>
              <a:rPr lang="en-US" b="1" i="0" dirty="0">
                <a:solidFill>
                  <a:srgbClr val="000000"/>
                </a:solidFill>
                <a:effectLst/>
                <a:highlight>
                  <a:srgbClr val="FFFFFF"/>
                </a:highlight>
                <a:latin typeface="inter-bold"/>
              </a:rPr>
              <a:t>Supervised learning technique </a:t>
            </a:r>
            <a:r>
              <a:rPr lang="en-US" b="0" i="0" dirty="0">
                <a:solidFill>
                  <a:srgbClr val="000000"/>
                </a:solidFill>
                <a:effectLst/>
                <a:highlight>
                  <a:srgbClr val="FFFFFF"/>
                </a:highlight>
                <a:latin typeface="inter-regular"/>
              </a:rPr>
              <a:t>that can be used for both classification and Regression problems, but mostly it is preferred for solving Classification problems. It is a tree-structured classifier, where</a:t>
            </a:r>
            <a:r>
              <a:rPr lang="en-US" b="1" i="0" dirty="0">
                <a:solidFill>
                  <a:srgbClr val="000000"/>
                </a:solidFill>
                <a:effectLst/>
                <a:highlight>
                  <a:srgbClr val="FFFFFF"/>
                </a:highlight>
                <a:latin typeface="inter-bold"/>
              </a:rPr>
              <a:t> internal nodes represent the features of a dataset, branches represent the decision rules</a:t>
            </a:r>
            <a:r>
              <a:rPr lang="en-US" b="0" i="0" dirty="0">
                <a:solidFill>
                  <a:srgbClr val="000000"/>
                </a:solidFill>
                <a:effectLst/>
                <a:highlight>
                  <a:srgbClr val="FFFFFF"/>
                </a:highlight>
                <a:latin typeface="inter-regular"/>
              </a:rPr>
              <a:t> and </a:t>
            </a:r>
            <a:r>
              <a:rPr lang="en-US" b="1" i="0" dirty="0">
                <a:solidFill>
                  <a:srgbClr val="000000"/>
                </a:solidFill>
                <a:effectLst/>
                <a:highlight>
                  <a:srgbClr val="FFFFFF"/>
                </a:highlight>
                <a:latin typeface="inter-bold"/>
              </a:rPr>
              <a:t>each leaf node represents the outcome.</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In a Decision tree, there are two nodes, which are the </a:t>
            </a:r>
            <a:r>
              <a:rPr lang="en-US" b="1" i="0" dirty="0">
                <a:solidFill>
                  <a:srgbClr val="000000"/>
                </a:solidFill>
                <a:effectLst/>
                <a:highlight>
                  <a:srgbClr val="FFFFFF"/>
                </a:highlight>
                <a:latin typeface="inter-bold"/>
              </a:rPr>
              <a:t>Decision Node</a:t>
            </a:r>
            <a:r>
              <a:rPr lang="en-US" b="0" i="0" dirty="0">
                <a:solidFill>
                  <a:srgbClr val="000000"/>
                </a:solidFill>
                <a:effectLst/>
                <a:highlight>
                  <a:srgbClr val="FFFFFF"/>
                </a:highlight>
                <a:latin typeface="inter-regular"/>
              </a:rPr>
              <a:t> and</a:t>
            </a:r>
            <a:r>
              <a:rPr lang="en-US" b="1" i="0" dirty="0">
                <a:solidFill>
                  <a:srgbClr val="000000"/>
                </a:solidFill>
                <a:effectLst/>
                <a:highlight>
                  <a:srgbClr val="FFFFFF"/>
                </a:highlight>
                <a:latin typeface="inter-bold"/>
              </a:rPr>
              <a:t> Leaf Node.</a:t>
            </a:r>
            <a:endParaRPr lang="en-US" b="0" i="0" dirty="0">
              <a:solidFill>
                <a:srgbClr val="000000"/>
              </a:solidFill>
              <a:effectLst/>
              <a:highlight>
                <a:srgbClr val="FFFFFF"/>
              </a:highlight>
              <a:latin typeface="inter-regular"/>
            </a:endParaRPr>
          </a:p>
          <a:p>
            <a:pPr marL="0" indent="0">
              <a:buNone/>
            </a:pPr>
            <a:endParaRPr lang="en-US" dirty="0"/>
          </a:p>
        </p:txBody>
      </p:sp>
      <p:pic>
        <p:nvPicPr>
          <p:cNvPr id="3074" name="Picture 2" descr="Decision Tree Classification Algorithm">
            <a:extLst>
              <a:ext uri="{FF2B5EF4-FFF2-40B4-BE49-F238E27FC236}">
                <a16:creationId xmlns:a16="http://schemas.microsoft.com/office/drawing/2014/main" id="{1ED91C9F-8997-957B-8044-E3C233535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7965" y="3160295"/>
            <a:ext cx="5715000" cy="2951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123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4D09-49EE-5986-DC2C-4C6876E453DD}"/>
              </a:ext>
            </a:extLst>
          </p:cNvPr>
          <p:cNvSpPr>
            <a:spLocks noGrp="1"/>
          </p:cNvSpPr>
          <p:nvPr>
            <p:ph idx="1"/>
          </p:nvPr>
        </p:nvSpPr>
        <p:spPr>
          <a:xfrm>
            <a:off x="337689" y="49022"/>
            <a:ext cx="9576332" cy="6013645"/>
          </a:xfrm>
        </p:spPr>
        <p:txBody>
          <a:bodyPr/>
          <a:lstStyle/>
          <a:p>
            <a:pPr marL="0" indent="0">
              <a:buNone/>
            </a:pPr>
            <a:r>
              <a:rPr lang="en-US" b="1" dirty="0"/>
              <a:t>     Random Forest:</a:t>
            </a:r>
          </a:p>
          <a:p>
            <a:r>
              <a:rPr lang="en-US" b="0" i="0" dirty="0">
                <a:solidFill>
                  <a:srgbClr val="333333"/>
                </a:solidFill>
                <a:effectLst/>
                <a:highlight>
                  <a:srgbClr val="FFFFFF"/>
                </a:highlight>
                <a:latin typeface="inter-regular"/>
              </a:rPr>
              <a:t>Random Forest is a popular machine learning algorithm that belongs to the supervised learning technique. It can be used for both Classification and Regression problems in ML. It is based on the concept of </a:t>
            </a:r>
            <a:r>
              <a:rPr lang="en-US" b="1" i="0" dirty="0">
                <a:solidFill>
                  <a:srgbClr val="333333"/>
                </a:solidFill>
                <a:effectLst/>
                <a:highlight>
                  <a:srgbClr val="FFFFFF"/>
                </a:highlight>
                <a:latin typeface="inter-bold"/>
              </a:rPr>
              <a:t>ensemble learning,</a:t>
            </a:r>
            <a:r>
              <a:rPr lang="en-US" b="0" i="0" dirty="0">
                <a:solidFill>
                  <a:srgbClr val="333333"/>
                </a:solidFill>
                <a:effectLst/>
                <a:highlight>
                  <a:srgbClr val="FFFFFF"/>
                </a:highlight>
                <a:latin typeface="inter-regular"/>
              </a:rPr>
              <a:t> which is a process of </a:t>
            </a:r>
            <a:r>
              <a:rPr lang="en-US" b="0" i="1" dirty="0">
                <a:solidFill>
                  <a:srgbClr val="333333"/>
                </a:solidFill>
                <a:effectLst/>
                <a:highlight>
                  <a:srgbClr val="FFFFFF"/>
                </a:highlight>
                <a:latin typeface="inter-regular"/>
              </a:rPr>
              <a:t>combining multiple classifiers to solve a complex problem and to improve the performance of the model.</a:t>
            </a:r>
            <a:endParaRPr lang="en-US" b="1" i="1" dirty="0">
              <a:solidFill>
                <a:srgbClr val="333333"/>
              </a:solidFill>
              <a:effectLst/>
              <a:highlight>
                <a:srgbClr val="FFFFFF"/>
              </a:highlight>
              <a:latin typeface="inter-regular"/>
            </a:endParaRPr>
          </a:p>
          <a:p>
            <a:endParaRPr lang="en-IN" b="1" dirty="0"/>
          </a:p>
        </p:txBody>
      </p:sp>
      <p:pic>
        <p:nvPicPr>
          <p:cNvPr id="4098" name="Picture 2" descr="Random Forest Algorithm">
            <a:extLst>
              <a:ext uri="{FF2B5EF4-FFF2-40B4-BE49-F238E27FC236}">
                <a16:creationId xmlns:a16="http://schemas.microsoft.com/office/drawing/2014/main" id="{73A4AEF9-BB45-8B9D-6A7B-C60C470B7A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2708" y="1530417"/>
            <a:ext cx="6366274" cy="4255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301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94B5D1-D9CB-E5C4-806A-5D166E6DB517}"/>
              </a:ext>
            </a:extLst>
          </p:cNvPr>
          <p:cNvSpPr>
            <a:spLocks noGrp="1"/>
          </p:cNvSpPr>
          <p:nvPr>
            <p:ph idx="1"/>
          </p:nvPr>
        </p:nvSpPr>
        <p:spPr>
          <a:xfrm>
            <a:off x="760395" y="1299411"/>
            <a:ext cx="9095873" cy="6121480"/>
          </a:xfrm>
        </p:spPr>
        <p:txBody>
          <a:bodyPr>
            <a:normAutofit/>
          </a:bodyPr>
          <a:lstStyle/>
          <a:p>
            <a:pPr marL="0" indent="0">
              <a:buNone/>
            </a:pPr>
            <a:r>
              <a:rPr lang="en-US" b="1" dirty="0"/>
              <a:t>Support Vector Machine</a:t>
            </a:r>
          </a:p>
          <a:p>
            <a:pPr marL="0" indent="0">
              <a:buNone/>
            </a:pPr>
            <a:r>
              <a:rPr lang="en-US" b="0" i="0" dirty="0">
                <a:solidFill>
                  <a:srgbClr val="273239"/>
                </a:solidFill>
                <a:effectLst/>
                <a:highlight>
                  <a:srgbClr val="FFFFFF"/>
                </a:highlight>
                <a:latin typeface="Nunito" pitchFamily="2" charset="0"/>
              </a:rPr>
              <a:t>Support Vector Machine (SVM) is a </a:t>
            </a:r>
            <a:r>
              <a:rPr lang="en-US" b="0" i="0" u="sng" dirty="0">
                <a:effectLst/>
                <a:highlight>
                  <a:srgbClr val="FFFFFF"/>
                </a:highlight>
                <a:latin typeface="Nunito" pitchFamily="2" charset="0"/>
                <a:hlinkClick r:id="rId2"/>
              </a:rPr>
              <a:t>supervised machine learning</a:t>
            </a:r>
            <a:r>
              <a:rPr lang="en-US" b="0" i="0" dirty="0">
                <a:solidFill>
                  <a:srgbClr val="273239"/>
                </a:solidFill>
                <a:effectLst/>
                <a:highlight>
                  <a:srgbClr val="FFFFFF"/>
                </a:highlight>
                <a:latin typeface="Nunito" pitchFamily="2" charset="0"/>
              </a:rPr>
              <a:t> algorithm used for both classification and regression. Though we say regression problems as well it’s best suited for classification. The main objective of the SVM algorithm is to find the optimal </a:t>
            </a:r>
            <a:r>
              <a:rPr lang="en-US" b="0" i="0" u="sng" dirty="0">
                <a:effectLst/>
                <a:highlight>
                  <a:srgbClr val="FFFFFF"/>
                </a:highlight>
                <a:latin typeface="Nunito" pitchFamily="2" charset="0"/>
                <a:hlinkClick r:id="rId3"/>
              </a:rPr>
              <a:t>hyperplane</a:t>
            </a:r>
            <a:r>
              <a:rPr lang="en-US" b="0" i="0" dirty="0">
                <a:solidFill>
                  <a:srgbClr val="273239"/>
                </a:solidFill>
                <a:effectLst/>
                <a:highlight>
                  <a:srgbClr val="FFFFFF"/>
                </a:highlight>
                <a:latin typeface="Nunito" pitchFamily="2" charset="0"/>
              </a:rPr>
              <a:t> in an N-dimensional space that can separate the data points in different classes in the feature space. The hyperplane tries that the margin between the closest points of different classes should be as maximum as possible. The dimension of the hyperplane depends upon the number of features. </a:t>
            </a:r>
            <a:endParaRPr lang="en-IN" dirty="0"/>
          </a:p>
        </p:txBody>
      </p:sp>
      <p:pic>
        <p:nvPicPr>
          <p:cNvPr id="5122" name="Picture 2">
            <a:extLst>
              <a:ext uri="{FF2B5EF4-FFF2-40B4-BE49-F238E27FC236}">
                <a16:creationId xmlns:a16="http://schemas.microsoft.com/office/drawing/2014/main" id="{FD5342B4-005C-706B-CB7C-8713EA95DC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5885" y="3855983"/>
            <a:ext cx="2704047" cy="3002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290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F231F9-BF63-7DA2-734F-CDE28BC84CF3}"/>
              </a:ext>
            </a:extLst>
          </p:cNvPr>
          <p:cNvSpPr>
            <a:spLocks noGrp="1"/>
          </p:cNvSpPr>
          <p:nvPr>
            <p:ph idx="1"/>
          </p:nvPr>
        </p:nvSpPr>
        <p:spPr>
          <a:xfrm>
            <a:off x="423512" y="298383"/>
            <a:ext cx="8720487" cy="6085664"/>
          </a:xfrm>
        </p:spPr>
        <p:txBody>
          <a:bodyPr>
            <a:normAutofit/>
          </a:bodyPr>
          <a:lstStyle/>
          <a:p>
            <a:pPr marL="0" indent="0">
              <a:buNone/>
            </a:pPr>
            <a:r>
              <a:rPr lang="en-IN" b="1" i="0" dirty="0">
                <a:solidFill>
                  <a:srgbClr val="273239"/>
                </a:solidFill>
                <a:effectLst/>
                <a:highlight>
                  <a:srgbClr val="FFFFFF"/>
                </a:highlight>
                <a:latin typeface="Source Sans 3"/>
              </a:rPr>
              <a:t>K-Nearest </a:t>
            </a:r>
            <a:r>
              <a:rPr lang="en-IN" b="1" i="0" dirty="0" err="1">
                <a:solidFill>
                  <a:srgbClr val="273239"/>
                </a:solidFill>
                <a:effectLst/>
                <a:highlight>
                  <a:srgbClr val="FFFFFF"/>
                </a:highlight>
                <a:latin typeface="Source Sans 3"/>
              </a:rPr>
              <a:t>Neighbor</a:t>
            </a:r>
            <a:r>
              <a:rPr lang="en-IN" b="1" i="0" dirty="0">
                <a:solidFill>
                  <a:srgbClr val="273239"/>
                </a:solidFill>
                <a:effectLst/>
                <a:highlight>
                  <a:srgbClr val="FFFFFF"/>
                </a:highlight>
                <a:latin typeface="Source Sans 3"/>
              </a:rPr>
              <a:t>(KNN)</a:t>
            </a:r>
          </a:p>
          <a:p>
            <a:pPr algn="l" rtl="0" fontAlgn="base"/>
            <a:r>
              <a:rPr lang="en-US" b="0" i="0" dirty="0">
                <a:solidFill>
                  <a:srgbClr val="273239"/>
                </a:solidFill>
                <a:effectLst/>
                <a:highlight>
                  <a:srgbClr val="FFFFFF"/>
                </a:highlight>
                <a:latin typeface="Nunito" pitchFamily="2" charset="0"/>
              </a:rPr>
              <a:t>KNN is one of the most basic yet essential classification algorithms in machine learning. It belongs to the </a:t>
            </a:r>
            <a:r>
              <a:rPr lang="en-US" b="0" i="0" u="sng" dirty="0">
                <a:solidFill>
                  <a:srgbClr val="273239"/>
                </a:solidFill>
                <a:effectLst/>
                <a:highlight>
                  <a:srgbClr val="FFFFFF"/>
                </a:highlight>
                <a:latin typeface="Nunito" pitchFamily="2" charset="0"/>
                <a:hlinkClick r:id="rId2"/>
              </a:rPr>
              <a:t>supervised learning</a:t>
            </a:r>
            <a:r>
              <a:rPr lang="en-US" b="0" i="0" dirty="0">
                <a:solidFill>
                  <a:srgbClr val="273239"/>
                </a:solidFill>
                <a:effectLst/>
                <a:highlight>
                  <a:srgbClr val="FFFFFF"/>
                </a:highlight>
                <a:latin typeface="Nunito" pitchFamily="2" charset="0"/>
              </a:rPr>
              <a:t> domain and finds intense application in pattern recognition, </a:t>
            </a:r>
            <a:r>
              <a:rPr lang="en-US" b="0" i="0" u="sng" dirty="0">
                <a:solidFill>
                  <a:srgbClr val="273239"/>
                </a:solidFill>
                <a:effectLst/>
                <a:highlight>
                  <a:srgbClr val="FFFFFF"/>
                </a:highlight>
                <a:latin typeface="Nunito" pitchFamily="2" charset="0"/>
                <a:hlinkClick r:id="rId3"/>
              </a:rPr>
              <a:t>data mining</a:t>
            </a:r>
            <a:r>
              <a:rPr lang="en-US" b="0" i="0" dirty="0">
                <a:solidFill>
                  <a:srgbClr val="273239"/>
                </a:solidFill>
                <a:effectLst/>
                <a:highlight>
                  <a:srgbClr val="FFFFFF"/>
                </a:highlight>
                <a:latin typeface="Nunito" pitchFamily="2" charset="0"/>
              </a:rPr>
              <a:t>, and intrusion detection.</a:t>
            </a:r>
          </a:p>
          <a:p>
            <a:pPr algn="l" rtl="0" fontAlgn="base"/>
            <a:r>
              <a:rPr lang="en-US" b="0" i="0" dirty="0">
                <a:solidFill>
                  <a:srgbClr val="273239"/>
                </a:solidFill>
                <a:effectLst/>
                <a:highlight>
                  <a:srgbClr val="FFFFFF"/>
                </a:highlight>
                <a:latin typeface="Nunito" pitchFamily="2" charset="0"/>
              </a:rPr>
              <a:t>It is widely disposable in real-life scenarios since it is non-parametric, meaning it does not make any underlying assumptions about the distribution of data (as opposed to other algorithms such as GMM, which assume a </a:t>
            </a:r>
            <a:r>
              <a:rPr lang="en-US" b="0" i="0" u="sng" dirty="0">
                <a:solidFill>
                  <a:srgbClr val="273239"/>
                </a:solidFill>
                <a:effectLst/>
                <a:highlight>
                  <a:srgbClr val="FFFFFF"/>
                </a:highlight>
                <a:latin typeface="Nunito" pitchFamily="2" charset="0"/>
                <a:hlinkClick r:id="rId4"/>
              </a:rPr>
              <a:t>Gaussian distribution</a:t>
            </a:r>
            <a:r>
              <a:rPr lang="en-US" b="0" i="0" dirty="0">
                <a:solidFill>
                  <a:srgbClr val="273239"/>
                </a:solidFill>
                <a:effectLst/>
                <a:highlight>
                  <a:srgbClr val="FFFFFF"/>
                </a:highlight>
                <a:latin typeface="Nunito" pitchFamily="2" charset="0"/>
              </a:rPr>
              <a:t> of the given data). We are given some prior data (also called training data), which classifies coordinates into groups identified by an attribute</a:t>
            </a:r>
          </a:p>
          <a:p>
            <a:pPr marL="0" indent="0">
              <a:buNone/>
            </a:pPr>
            <a:endParaRPr lang="en-IN" dirty="0"/>
          </a:p>
        </p:txBody>
      </p:sp>
      <p:pic>
        <p:nvPicPr>
          <p:cNvPr id="6146" name="Picture 2" descr="KNN Algorithm working visualization">
            <a:extLst>
              <a:ext uri="{FF2B5EF4-FFF2-40B4-BE49-F238E27FC236}">
                <a16:creationId xmlns:a16="http://schemas.microsoft.com/office/drawing/2014/main" id="{4437CFC6-E8DD-5EF8-C546-C75A69EB39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7064" y="3599848"/>
            <a:ext cx="4321743" cy="322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9245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3F6CD5-415A-9D85-FA17-6503B55EE276}"/>
              </a:ext>
            </a:extLst>
          </p:cNvPr>
          <p:cNvSpPr>
            <a:spLocks noGrp="1"/>
          </p:cNvSpPr>
          <p:nvPr>
            <p:ph idx="1"/>
          </p:nvPr>
        </p:nvSpPr>
        <p:spPr>
          <a:xfrm flipH="1">
            <a:off x="125127" y="269508"/>
            <a:ext cx="9326879" cy="5640404"/>
          </a:xfrm>
        </p:spPr>
        <p:txBody>
          <a:bodyPr>
            <a:normAutofit/>
          </a:bodyPr>
          <a:lstStyle/>
          <a:p>
            <a:pPr marL="0" indent="0">
              <a:buNone/>
            </a:pPr>
            <a:r>
              <a:rPr lang="en-IN" b="1" i="0" dirty="0">
                <a:solidFill>
                  <a:srgbClr val="273239"/>
                </a:solidFill>
                <a:effectLst/>
                <a:highlight>
                  <a:srgbClr val="FFFFFF"/>
                </a:highlight>
                <a:latin typeface="Source Sans 3"/>
              </a:rPr>
              <a:t>Naive Bayes Classifiers</a:t>
            </a:r>
          </a:p>
          <a:p>
            <a:pPr algn="just" rtl="0" fontAlgn="base"/>
            <a:r>
              <a:rPr lang="en-US" b="0" i="0" dirty="0">
                <a:solidFill>
                  <a:srgbClr val="273239"/>
                </a:solidFill>
                <a:effectLst/>
                <a:highlight>
                  <a:srgbClr val="FFFFFF"/>
                </a:highlight>
                <a:latin typeface="Nunito" pitchFamily="2" charset="0"/>
              </a:rPr>
              <a:t>Naive Bayes classifiers are a collection of classification algorithms based on Bayes’ Theorem. It is not a single algorithm but a family of algorithms where all of them share a common principle, i.e. every pair of features being classified is independent of each other</a:t>
            </a:r>
            <a:r>
              <a:rPr lang="en-US" b="0" i="0">
                <a:solidFill>
                  <a:srgbClr val="273239"/>
                </a:solidFill>
                <a:effectLst/>
                <a:highlight>
                  <a:srgbClr val="FFFFFF"/>
                </a:highlight>
                <a:latin typeface="Nunito" pitchFamily="2" charset="0"/>
              </a:rPr>
              <a:t>. </a:t>
            </a:r>
          </a:p>
          <a:p>
            <a:pPr algn="just" rtl="0" fontAlgn="base"/>
            <a:r>
              <a:rPr lang="en-US" b="0" i="0">
                <a:solidFill>
                  <a:srgbClr val="273239"/>
                </a:solidFill>
                <a:effectLst/>
                <a:highlight>
                  <a:srgbClr val="FFFFFF"/>
                </a:highlight>
                <a:latin typeface="Nunito" pitchFamily="2" charset="0"/>
              </a:rPr>
              <a:t>One </a:t>
            </a:r>
            <a:r>
              <a:rPr lang="en-US" b="0" i="0" dirty="0">
                <a:solidFill>
                  <a:srgbClr val="273239"/>
                </a:solidFill>
                <a:effectLst/>
                <a:highlight>
                  <a:srgbClr val="FFFFFF"/>
                </a:highlight>
                <a:latin typeface="Nunito" pitchFamily="2" charset="0"/>
              </a:rPr>
              <a:t>of the most simple and effective classification algorithms, the Naïve Bayes classifier aids in the rapid development of machine learning models with rapid prediction capabilities.</a:t>
            </a:r>
          </a:p>
          <a:p>
            <a:pPr algn="just" rtl="0" fontAlgn="base"/>
            <a:endParaRPr lang="en-US" b="0" i="0" dirty="0">
              <a:solidFill>
                <a:srgbClr val="273239"/>
              </a:solidFill>
              <a:effectLst/>
              <a:highlight>
                <a:srgbClr val="FFFFFF"/>
              </a:highlight>
              <a:latin typeface="Nunito" pitchFamily="2" charset="0"/>
            </a:endParaRPr>
          </a:p>
          <a:p>
            <a:pPr marL="0" indent="0">
              <a:buNone/>
            </a:pPr>
            <a:endParaRPr lang="en-IN" dirty="0"/>
          </a:p>
        </p:txBody>
      </p:sp>
      <p:pic>
        <p:nvPicPr>
          <p:cNvPr id="7170" name="Picture 2" descr="Building Naive Bayes Classifier from Scratch to Perform Sentiment Analysis">
            <a:extLst>
              <a:ext uri="{FF2B5EF4-FFF2-40B4-BE49-F238E27FC236}">
                <a16:creationId xmlns:a16="http://schemas.microsoft.com/office/drawing/2014/main" id="{B9341615-8EDA-67A0-3C5A-A6E168773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4899" y="3580597"/>
            <a:ext cx="4049926" cy="2233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984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CD09-7565-DE98-3175-E14238BDCC07}"/>
              </a:ext>
            </a:extLst>
          </p:cNvPr>
          <p:cNvSpPr>
            <a:spLocks noGrp="1"/>
          </p:cNvSpPr>
          <p:nvPr>
            <p:ph type="title"/>
          </p:nvPr>
        </p:nvSpPr>
        <p:spPr/>
        <p:txBody>
          <a:bodyPr/>
          <a:lstStyle/>
          <a:p>
            <a:r>
              <a:rPr lang="en-US" dirty="0">
                <a:solidFill>
                  <a:schemeClr val="tx1"/>
                </a:solidFill>
              </a:rPr>
              <a:t>Bagging Classifier</a:t>
            </a:r>
            <a:endParaRPr lang="en-IN" dirty="0">
              <a:solidFill>
                <a:schemeClr val="tx1"/>
              </a:solidFill>
            </a:endParaRPr>
          </a:p>
        </p:txBody>
      </p:sp>
      <p:sp>
        <p:nvSpPr>
          <p:cNvPr id="3" name="Content Placeholder 2">
            <a:extLst>
              <a:ext uri="{FF2B5EF4-FFF2-40B4-BE49-F238E27FC236}">
                <a16:creationId xmlns:a16="http://schemas.microsoft.com/office/drawing/2014/main" id="{70A7D5E1-CEEE-032A-28BE-510DD3524A06}"/>
              </a:ext>
            </a:extLst>
          </p:cNvPr>
          <p:cNvSpPr>
            <a:spLocks noGrp="1"/>
          </p:cNvSpPr>
          <p:nvPr>
            <p:ph idx="1"/>
          </p:nvPr>
        </p:nvSpPr>
        <p:spPr>
          <a:xfrm>
            <a:off x="677334" y="1393371"/>
            <a:ext cx="8596668" cy="5246915"/>
          </a:xfrm>
        </p:spPr>
        <p:txBody>
          <a:bodyPr/>
          <a:lstStyle/>
          <a:p>
            <a:r>
              <a:rPr lang="en-US" b="0" i="0" dirty="0">
                <a:solidFill>
                  <a:srgbClr val="222832"/>
                </a:solidFill>
                <a:effectLst/>
                <a:highlight>
                  <a:srgbClr val="FFFFFF"/>
                </a:highlight>
                <a:latin typeface="-apple-system"/>
              </a:rPr>
              <a:t>A Bagging classifier is an ensemble meta-estimator that fits base classifiers each on random subsets of the original dataset and then aggregate their individual predictions (either by voting or by averaging) to form a final prediction. Such a meta-estimator can typically be used as a way to reduce the variance of a black-box estimator (e.g., a decision tree), by introducing randomization into its construction procedure and then making an ensemble out of it.</a:t>
            </a:r>
            <a:endParaRPr lang="en-IN" dirty="0"/>
          </a:p>
        </p:txBody>
      </p:sp>
      <p:pic>
        <p:nvPicPr>
          <p:cNvPr id="1026" name="Picture 2" descr="Lightbox">
            <a:extLst>
              <a:ext uri="{FF2B5EF4-FFF2-40B4-BE49-F238E27FC236}">
                <a16:creationId xmlns:a16="http://schemas.microsoft.com/office/drawing/2014/main" id="{7CF4F1C4-13EC-429B-C682-17B2A1F54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111" y="3272972"/>
            <a:ext cx="7609113" cy="3309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777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DA99-9D04-2C49-4C8A-F3D13E596B6A}"/>
              </a:ext>
            </a:extLst>
          </p:cNvPr>
          <p:cNvSpPr>
            <a:spLocks noGrp="1"/>
          </p:cNvSpPr>
          <p:nvPr>
            <p:ph type="title"/>
          </p:nvPr>
        </p:nvSpPr>
        <p:spPr/>
        <p:txBody>
          <a:bodyPr/>
          <a:lstStyle/>
          <a:p>
            <a:r>
              <a:rPr lang="en-US" dirty="0">
                <a:solidFill>
                  <a:schemeClr val="tx1"/>
                </a:solidFill>
              </a:rPr>
              <a:t>Gradient Boosting</a:t>
            </a:r>
            <a:endParaRPr lang="en-IN" dirty="0">
              <a:solidFill>
                <a:schemeClr val="tx1"/>
              </a:solidFill>
            </a:endParaRPr>
          </a:p>
        </p:txBody>
      </p:sp>
      <p:sp>
        <p:nvSpPr>
          <p:cNvPr id="3" name="Content Placeholder 2">
            <a:extLst>
              <a:ext uri="{FF2B5EF4-FFF2-40B4-BE49-F238E27FC236}">
                <a16:creationId xmlns:a16="http://schemas.microsoft.com/office/drawing/2014/main" id="{B95D3829-C363-0831-4194-AFDD5CFD0603}"/>
              </a:ext>
            </a:extLst>
          </p:cNvPr>
          <p:cNvSpPr>
            <a:spLocks noGrp="1"/>
          </p:cNvSpPr>
          <p:nvPr>
            <p:ph idx="1"/>
          </p:nvPr>
        </p:nvSpPr>
        <p:spPr>
          <a:xfrm>
            <a:off x="677334" y="1528044"/>
            <a:ext cx="8596668" cy="5700071"/>
          </a:xfrm>
        </p:spPr>
        <p:txBody>
          <a:bodyPr/>
          <a:lstStyle/>
          <a:p>
            <a:r>
              <a:rPr lang="en-US" b="0" i="0" dirty="0">
                <a:solidFill>
                  <a:srgbClr val="273239"/>
                </a:solidFill>
                <a:effectLst/>
                <a:highlight>
                  <a:srgbClr val="FFFFFF"/>
                </a:highlight>
                <a:latin typeface="Nunito" pitchFamily="2" charset="0"/>
              </a:rPr>
              <a:t>Gradient Boosting is a powerful boosting algorithm that combines several weak learners into strong learners, in which each new model is trained to minimize the loss function such as mean squared error or cross-entropy of the previous model using gradient descent. In each iteration, the algorithm computes the gradient of the loss function with respect to the predictions of the current ensemble and then trains a new weak model to minimize this gradient. The predictions of the new model are then added to the ensemble, and the process is repeated until a stopping criterion is met.</a:t>
            </a:r>
            <a:endParaRPr lang="en-IN" dirty="0"/>
          </a:p>
        </p:txBody>
      </p:sp>
      <p:pic>
        <p:nvPicPr>
          <p:cNvPr id="2050" name="Picture 2" descr="Lightbox">
            <a:extLst>
              <a:ext uri="{FF2B5EF4-FFF2-40B4-BE49-F238E27FC236}">
                <a16:creationId xmlns:a16="http://schemas.microsoft.com/office/drawing/2014/main" id="{080ABCBB-45BC-8B55-99E7-F5AD02A67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4795" y="3766457"/>
            <a:ext cx="6585176" cy="2820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815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E9F54-A181-921F-A8FC-033F45BD1C43}"/>
              </a:ext>
            </a:extLst>
          </p:cNvPr>
          <p:cNvSpPr>
            <a:spLocks noGrp="1"/>
          </p:cNvSpPr>
          <p:nvPr>
            <p:ph type="title"/>
          </p:nvPr>
        </p:nvSpPr>
        <p:spPr>
          <a:xfrm>
            <a:off x="677334" y="182880"/>
            <a:ext cx="8596668" cy="633262"/>
          </a:xfrm>
        </p:spPr>
        <p:txBody>
          <a:bodyPr>
            <a:normAutofit fontScale="90000"/>
          </a:bodyPr>
          <a:lstStyle/>
          <a:p>
            <a:r>
              <a:rPr lang="en-US" dirty="0">
                <a:solidFill>
                  <a:schemeClr val="tx1"/>
                </a:solidFill>
              </a:rPr>
              <a:t>Accuracy of Different Models</a:t>
            </a:r>
            <a:endParaRPr lang="en-IN" dirty="0">
              <a:solidFill>
                <a:schemeClr val="tx1"/>
              </a:solidFill>
            </a:endParaRPr>
          </a:p>
        </p:txBody>
      </p:sp>
      <p:pic>
        <p:nvPicPr>
          <p:cNvPr id="13" name="Content Placeholder 12">
            <a:extLst>
              <a:ext uri="{FF2B5EF4-FFF2-40B4-BE49-F238E27FC236}">
                <a16:creationId xmlns:a16="http://schemas.microsoft.com/office/drawing/2014/main" id="{E85E8841-A96E-9679-77A0-5C14E67B74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853264"/>
            <a:ext cx="3418785" cy="5331636"/>
          </a:xfrm>
        </p:spPr>
      </p:pic>
      <p:pic>
        <p:nvPicPr>
          <p:cNvPr id="15" name="Picture 14">
            <a:extLst>
              <a:ext uri="{FF2B5EF4-FFF2-40B4-BE49-F238E27FC236}">
                <a16:creationId xmlns:a16="http://schemas.microsoft.com/office/drawing/2014/main" id="{E8E146D1-C3D7-1F72-A272-DC39DCEEDA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8100" y="1119908"/>
            <a:ext cx="4155902" cy="5064991"/>
          </a:xfrm>
          <a:prstGeom prst="rect">
            <a:avLst/>
          </a:prstGeom>
        </p:spPr>
      </p:pic>
    </p:spTree>
    <p:extLst>
      <p:ext uri="{BB962C8B-B14F-4D97-AF65-F5344CB8AC3E}">
        <p14:creationId xmlns:p14="http://schemas.microsoft.com/office/powerpoint/2010/main" val="2478908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CC74BDD-170E-B896-41F9-2398C582B6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022" y="425450"/>
            <a:ext cx="4479269" cy="5340350"/>
          </a:xfrm>
        </p:spPr>
      </p:pic>
      <p:pic>
        <p:nvPicPr>
          <p:cNvPr id="9" name="Picture 8">
            <a:extLst>
              <a:ext uri="{FF2B5EF4-FFF2-40B4-BE49-F238E27FC236}">
                <a16:creationId xmlns:a16="http://schemas.microsoft.com/office/drawing/2014/main" id="{624929B6-C334-9187-E327-2B9724446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8550" y="425450"/>
            <a:ext cx="4644926" cy="5340350"/>
          </a:xfrm>
          <a:prstGeom prst="rect">
            <a:avLst/>
          </a:prstGeom>
        </p:spPr>
      </p:pic>
    </p:spTree>
    <p:extLst>
      <p:ext uri="{BB962C8B-B14F-4D97-AF65-F5344CB8AC3E}">
        <p14:creationId xmlns:p14="http://schemas.microsoft.com/office/powerpoint/2010/main" val="3715685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14FD4C2-1B05-46B9-CBD3-900BA412E6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7201" y="315314"/>
            <a:ext cx="5778499" cy="5726711"/>
          </a:xfrm>
        </p:spPr>
      </p:pic>
    </p:spTree>
    <p:extLst>
      <p:ext uri="{BB962C8B-B14F-4D97-AF65-F5344CB8AC3E}">
        <p14:creationId xmlns:p14="http://schemas.microsoft.com/office/powerpoint/2010/main" val="3389296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7B2401D-E20B-28CB-7B86-D2C852B1D4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844" y="194469"/>
            <a:ext cx="3817256" cy="5772563"/>
          </a:xfrm>
        </p:spPr>
      </p:pic>
      <p:pic>
        <p:nvPicPr>
          <p:cNvPr id="8" name="Picture 7">
            <a:extLst>
              <a:ext uri="{FF2B5EF4-FFF2-40B4-BE49-F238E27FC236}">
                <a16:creationId xmlns:a16="http://schemas.microsoft.com/office/drawing/2014/main" id="{6F13FD6E-C8E8-7BFD-4DFD-0CC804596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6429" y="194469"/>
            <a:ext cx="4365553" cy="5698331"/>
          </a:xfrm>
          <a:prstGeom prst="rect">
            <a:avLst/>
          </a:prstGeom>
        </p:spPr>
      </p:pic>
    </p:spTree>
    <p:extLst>
      <p:ext uri="{BB962C8B-B14F-4D97-AF65-F5344CB8AC3E}">
        <p14:creationId xmlns:p14="http://schemas.microsoft.com/office/powerpoint/2010/main" val="634778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C3F1CA-A025-20C3-9717-5F1817BE8E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8325" y="284163"/>
            <a:ext cx="4943475" cy="6105525"/>
          </a:xfrm>
        </p:spPr>
      </p:pic>
    </p:spTree>
    <p:extLst>
      <p:ext uri="{BB962C8B-B14F-4D97-AF65-F5344CB8AC3E}">
        <p14:creationId xmlns:p14="http://schemas.microsoft.com/office/powerpoint/2010/main" val="2680393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BEAF-5929-162E-E49E-2BC5CB707998}"/>
              </a:ext>
            </a:extLst>
          </p:cNvPr>
          <p:cNvSpPr>
            <a:spLocks noGrp="1"/>
          </p:cNvSpPr>
          <p:nvPr>
            <p:ph type="title"/>
          </p:nvPr>
        </p:nvSpPr>
        <p:spPr>
          <a:xfrm>
            <a:off x="677334" y="609600"/>
            <a:ext cx="8596668" cy="824564"/>
          </a:xfrm>
        </p:spPr>
        <p:txBody>
          <a:bodyPr/>
          <a:lstStyle/>
          <a:p>
            <a:r>
              <a:rPr lang="en-US" dirty="0">
                <a:solidFill>
                  <a:schemeClr val="tx1"/>
                </a:solidFill>
              </a:rPr>
              <a:t>Result and Evaluation</a:t>
            </a:r>
            <a:endParaRPr lang="en-IN" dirty="0">
              <a:solidFill>
                <a:schemeClr val="tx1"/>
              </a:solidFill>
            </a:endParaRPr>
          </a:p>
        </p:txBody>
      </p:sp>
      <p:pic>
        <p:nvPicPr>
          <p:cNvPr id="7" name="Content Placeholder 6">
            <a:extLst>
              <a:ext uri="{FF2B5EF4-FFF2-40B4-BE49-F238E27FC236}">
                <a16:creationId xmlns:a16="http://schemas.microsoft.com/office/drawing/2014/main" id="{40FB5C63-6ED5-8B46-A97E-8D06663B666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87978" y="1654629"/>
            <a:ext cx="8176081" cy="4702627"/>
          </a:xfrm>
        </p:spPr>
      </p:pic>
    </p:spTree>
    <p:extLst>
      <p:ext uri="{BB962C8B-B14F-4D97-AF65-F5344CB8AC3E}">
        <p14:creationId xmlns:p14="http://schemas.microsoft.com/office/powerpoint/2010/main" val="1157325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1B9C6-7A27-E40E-13A4-4A355EC881B0}"/>
              </a:ext>
            </a:extLst>
          </p:cNvPr>
          <p:cNvSpPr>
            <a:spLocks noGrp="1"/>
          </p:cNvSpPr>
          <p:nvPr>
            <p:ph type="title"/>
          </p:nvPr>
        </p:nvSpPr>
        <p:spPr>
          <a:xfrm>
            <a:off x="677334" y="609600"/>
            <a:ext cx="8596668" cy="814939"/>
          </a:xfrm>
        </p:spPr>
        <p:txBody>
          <a:bodyPr/>
          <a:lstStyle/>
          <a:p>
            <a:r>
              <a:rPr lang="en-US" dirty="0">
                <a:solidFill>
                  <a:schemeClr val="tx1"/>
                </a:solidFill>
              </a:rPr>
              <a:t>Sample Output:</a:t>
            </a:r>
            <a:endParaRPr lang="en-IN" dirty="0">
              <a:solidFill>
                <a:schemeClr val="tx1"/>
              </a:solidFill>
            </a:endParaRPr>
          </a:p>
        </p:txBody>
      </p:sp>
      <p:pic>
        <p:nvPicPr>
          <p:cNvPr id="7" name="Content Placeholder 6">
            <a:extLst>
              <a:ext uri="{FF2B5EF4-FFF2-40B4-BE49-F238E27FC236}">
                <a16:creationId xmlns:a16="http://schemas.microsoft.com/office/drawing/2014/main" id="{F88A1F37-A3BA-6492-2AED-0F86BAB784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9806" y="1423988"/>
            <a:ext cx="5707781" cy="4618037"/>
          </a:xfrm>
        </p:spPr>
      </p:pic>
    </p:spTree>
    <p:extLst>
      <p:ext uri="{BB962C8B-B14F-4D97-AF65-F5344CB8AC3E}">
        <p14:creationId xmlns:p14="http://schemas.microsoft.com/office/powerpoint/2010/main" val="3326238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CF162-1022-5788-4092-9783AF97E063}"/>
              </a:ext>
            </a:extLst>
          </p:cNvPr>
          <p:cNvSpPr>
            <a:spLocks noGrp="1"/>
          </p:cNvSpPr>
          <p:nvPr>
            <p:ph type="title"/>
          </p:nvPr>
        </p:nvSpPr>
        <p:spPr>
          <a:xfrm>
            <a:off x="847022" y="654518"/>
            <a:ext cx="8426979" cy="1318661"/>
          </a:xfrm>
        </p:spPr>
        <p:txBody>
          <a:bodyPr/>
          <a:lstStyle/>
          <a:p>
            <a:r>
              <a:rPr lang="en-US" dirty="0">
                <a:solidFill>
                  <a:schemeClr val="tx1"/>
                </a:solidFill>
              </a:rPr>
              <a:t>Conclusion</a:t>
            </a:r>
            <a:endParaRPr lang="en-IN" dirty="0">
              <a:solidFill>
                <a:schemeClr val="tx1"/>
              </a:solidFill>
            </a:endParaRPr>
          </a:p>
        </p:txBody>
      </p:sp>
      <p:sp>
        <p:nvSpPr>
          <p:cNvPr id="3" name="Content Placeholder 2">
            <a:extLst>
              <a:ext uri="{FF2B5EF4-FFF2-40B4-BE49-F238E27FC236}">
                <a16:creationId xmlns:a16="http://schemas.microsoft.com/office/drawing/2014/main" id="{B9167B54-2B0F-60D4-97BE-0120229BD37F}"/>
              </a:ext>
            </a:extLst>
          </p:cNvPr>
          <p:cNvSpPr>
            <a:spLocks noGrp="1"/>
          </p:cNvSpPr>
          <p:nvPr>
            <p:ph idx="1"/>
          </p:nvPr>
        </p:nvSpPr>
        <p:spPr>
          <a:xfrm>
            <a:off x="677334" y="1337913"/>
            <a:ext cx="8596668" cy="5265018"/>
          </a:xfrm>
        </p:spPr>
        <p:txBody>
          <a:bodyPr>
            <a:normAutofit fontScale="92500"/>
          </a:bodyPr>
          <a:lstStyle/>
          <a:p>
            <a:r>
              <a:rPr lang="en-US" dirty="0"/>
              <a:t>In conclusion, this project has presented crop recommendation models to predict the best crops to grow using multiple advanced machine learning algorithms. </a:t>
            </a:r>
          </a:p>
          <a:p>
            <a:r>
              <a:rPr lang="en-US" dirty="0"/>
              <a:t>The technique is scalable and easily adapted to new data and regions or countries.</a:t>
            </a:r>
          </a:p>
          <a:p>
            <a:r>
              <a:rPr lang="en-US" dirty="0"/>
              <a:t> The results of this study have several positive implications for the agricultural industry. First, the technique can be used by farmers to make more informed decisions about what crops to grow. </a:t>
            </a:r>
          </a:p>
          <a:p>
            <a:r>
              <a:rPr lang="en-US" dirty="0"/>
              <a:t>Second, the method can be used by governments to develop policies that support the agricultural sector. </a:t>
            </a:r>
          </a:p>
          <a:p>
            <a:r>
              <a:rPr lang="en-US" dirty="0"/>
              <a:t>Third, the method can be used by businesses to create new products and services that support the agricultural industry.</a:t>
            </a:r>
          </a:p>
          <a:p>
            <a:r>
              <a:rPr lang="en-US" dirty="0"/>
              <a:t> Fourth, it will help keep the agricultural goods prices stable. Next, we thoroughly presented agricultural challenges and some interesting future ideas to venture into.</a:t>
            </a:r>
          </a:p>
          <a:p>
            <a:r>
              <a:rPr lang="en-US" dirty="0"/>
              <a:t> Overall, this project has made a significant contribution to the field of agriculture. The technique is scalable, accurate, and easy to use, making it a valuable tool for farmers, governments, and businesses. </a:t>
            </a:r>
            <a:endParaRPr lang="en-IN" dirty="0"/>
          </a:p>
        </p:txBody>
      </p:sp>
    </p:spTree>
    <p:extLst>
      <p:ext uri="{BB962C8B-B14F-4D97-AF65-F5344CB8AC3E}">
        <p14:creationId xmlns:p14="http://schemas.microsoft.com/office/powerpoint/2010/main" val="370655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35581-5BDB-6A38-82B1-E5B51C0BAD0B}"/>
              </a:ext>
            </a:extLst>
          </p:cNvPr>
          <p:cNvSpPr>
            <a:spLocks noGrp="1"/>
          </p:cNvSpPr>
          <p:nvPr>
            <p:ph type="title"/>
          </p:nvPr>
        </p:nvSpPr>
        <p:spPr>
          <a:xfrm>
            <a:off x="677334" y="609600"/>
            <a:ext cx="8596668" cy="805314"/>
          </a:xfrm>
        </p:spPr>
        <p:txBody>
          <a:bodyPr/>
          <a:lstStyle/>
          <a:p>
            <a:r>
              <a:rPr lang="en-IN" dirty="0">
                <a:solidFill>
                  <a:schemeClr val="tx1"/>
                </a:solidFill>
              </a:rPr>
              <a:t>References</a:t>
            </a:r>
            <a:r>
              <a:rPr lang="en-IN" dirty="0"/>
              <a:t> </a:t>
            </a:r>
          </a:p>
        </p:txBody>
      </p:sp>
      <p:sp>
        <p:nvSpPr>
          <p:cNvPr id="3" name="Content Placeholder 2">
            <a:extLst>
              <a:ext uri="{FF2B5EF4-FFF2-40B4-BE49-F238E27FC236}">
                <a16:creationId xmlns:a16="http://schemas.microsoft.com/office/drawing/2014/main" id="{D30BFC51-BC5A-33B1-58CD-6FD3169A81D1}"/>
              </a:ext>
            </a:extLst>
          </p:cNvPr>
          <p:cNvSpPr>
            <a:spLocks noGrp="1"/>
          </p:cNvSpPr>
          <p:nvPr>
            <p:ph idx="1"/>
          </p:nvPr>
        </p:nvSpPr>
        <p:spPr>
          <a:xfrm>
            <a:off x="677334" y="1270535"/>
            <a:ext cx="8596668" cy="5409398"/>
          </a:xfrm>
        </p:spPr>
        <p:txBody>
          <a:bodyPr>
            <a:normAutofit fontScale="92500" lnSpcReduction="20000"/>
          </a:bodyPr>
          <a:lstStyle/>
          <a:p>
            <a:r>
              <a:rPr lang="en-IN" dirty="0"/>
              <a:t>[1] A. L. Samuel, “Some studies in machine learning using the game of checkers,” IBM Journal of Research and Development, vol. 3, no. 3, pp. 210–229, 1959.</a:t>
            </a:r>
          </a:p>
          <a:p>
            <a:r>
              <a:rPr lang="en-IN" dirty="0"/>
              <a:t> [2] H. Wang, Z. Lei, X. Zhang, B. Zhou, and J. Peng, “Machine learning basics,” Deep learning, pp. 98–164, 2016. </a:t>
            </a:r>
          </a:p>
          <a:p>
            <a:r>
              <a:rPr lang="en-IN" dirty="0"/>
              <a:t>[3] G. Bonaccorso, Machine learning algorithms. </a:t>
            </a:r>
            <a:r>
              <a:rPr lang="en-IN" dirty="0" err="1"/>
              <a:t>Packt</a:t>
            </a:r>
            <a:r>
              <a:rPr lang="en-IN" dirty="0"/>
              <a:t> Publishing Ltd, 2017. </a:t>
            </a:r>
          </a:p>
          <a:p>
            <a:r>
              <a:rPr lang="en-IN" dirty="0"/>
              <a:t>[4] A. </a:t>
            </a:r>
            <a:r>
              <a:rPr lang="en-IN" dirty="0" err="1"/>
              <a:t>Calzadilla</a:t>
            </a:r>
            <a:r>
              <a:rPr lang="en-IN" dirty="0"/>
              <a:t>, T. Zhu, K. </a:t>
            </a:r>
            <a:r>
              <a:rPr lang="en-IN" dirty="0" err="1"/>
              <a:t>Rehdanz</a:t>
            </a:r>
            <a:r>
              <a:rPr lang="en-IN" dirty="0"/>
              <a:t>, R. S. Tol, and C. Ringler, “Climate change and agriculture: Impacts and adaptation options in south </a:t>
            </a:r>
            <a:r>
              <a:rPr lang="en-IN" dirty="0" err="1"/>
              <a:t>africa</a:t>
            </a:r>
            <a:r>
              <a:rPr lang="en-IN" dirty="0"/>
              <a:t>,” Water Resources and Economics, vol. 5, pp. 24–48, 2014. </a:t>
            </a:r>
          </a:p>
          <a:p>
            <a:r>
              <a:rPr lang="en-IN" dirty="0"/>
              <a:t>[5] T. </a:t>
            </a:r>
            <a:r>
              <a:rPr lang="en-IN" dirty="0" err="1"/>
              <a:t>Partap</a:t>
            </a:r>
            <a:r>
              <a:rPr lang="en-IN" dirty="0"/>
              <a:t>, “Hill agriculture: challenges and opportunities,” Indian Jour </a:t>
            </a:r>
            <a:r>
              <a:rPr lang="en-IN" dirty="0" err="1"/>
              <a:t>nal</a:t>
            </a:r>
            <a:r>
              <a:rPr lang="en-IN" dirty="0"/>
              <a:t> of Agricultural Economics, vol. 66, no. 902-2016-67891, 2011. </a:t>
            </a:r>
          </a:p>
          <a:p>
            <a:r>
              <a:rPr lang="en-IN" dirty="0"/>
              <a:t>[6] T. O. Ayodele, “Types of machine learning algorithms,” New advances in machine learning, vol. 3, pp. 19–48, 2010.</a:t>
            </a:r>
          </a:p>
          <a:p>
            <a:r>
              <a:rPr lang="en-IN" dirty="0"/>
              <a:t> [7] D. W. Hosmer Jr, S. </a:t>
            </a:r>
            <a:r>
              <a:rPr lang="en-IN" dirty="0" err="1"/>
              <a:t>Lemeshow</a:t>
            </a:r>
            <a:r>
              <a:rPr lang="en-IN" dirty="0"/>
              <a:t>, and R. X. Sturdivant, Applied logistic regression. John Wiley &amp; Sons, 2013, vol. 398.</a:t>
            </a:r>
          </a:p>
          <a:p>
            <a:r>
              <a:rPr lang="en-IN" dirty="0"/>
              <a:t> [8] R. E. Wright, “Logistic regression.” 1995. </a:t>
            </a:r>
          </a:p>
          <a:p>
            <a:r>
              <a:rPr lang="en-IN" dirty="0"/>
              <a:t>[9] B. </a:t>
            </a:r>
            <a:r>
              <a:rPr lang="en-IN" dirty="0" err="1"/>
              <a:t>Charbuty</a:t>
            </a:r>
            <a:r>
              <a:rPr lang="en-IN" dirty="0"/>
              <a:t> and A. Abdulazeez, “Classification based on decision tree algorithm for machine learning,” Journal of Applied Science and Technology Trends, vol. 2, no. 01, pp. 20–28, 2021.</a:t>
            </a:r>
          </a:p>
          <a:p>
            <a:r>
              <a:rPr lang="en-IN" dirty="0"/>
              <a:t> [10] M. R. Segal, “Machine learning benchmarks and random forest regression,” 2004.</a:t>
            </a:r>
          </a:p>
          <a:p>
            <a:endParaRPr lang="en-IN" dirty="0"/>
          </a:p>
        </p:txBody>
      </p:sp>
    </p:spTree>
    <p:extLst>
      <p:ext uri="{BB962C8B-B14F-4D97-AF65-F5344CB8AC3E}">
        <p14:creationId xmlns:p14="http://schemas.microsoft.com/office/powerpoint/2010/main" val="4145851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0485E37-EA77-77B8-FB5E-E7EFC6751111}"/>
              </a:ext>
            </a:extLst>
          </p:cNvPr>
          <p:cNvSpPr>
            <a:spLocks noGrp="1"/>
          </p:cNvSpPr>
          <p:nvPr>
            <p:ph idx="1"/>
          </p:nvPr>
        </p:nvSpPr>
        <p:spPr>
          <a:xfrm>
            <a:off x="677863" y="942975"/>
            <a:ext cx="8596312" cy="5099050"/>
          </a:xfrm>
        </p:spPr>
        <p:txBody>
          <a:bodyPr>
            <a:normAutofit fontScale="85000" lnSpcReduction="10000"/>
          </a:bodyPr>
          <a:lstStyle/>
          <a:p>
            <a:r>
              <a:rPr lang="en-IN" dirty="0"/>
              <a:t>[11] K. </a:t>
            </a:r>
            <a:r>
              <a:rPr lang="en-IN" dirty="0" err="1"/>
              <a:t>Taunk</a:t>
            </a:r>
            <a:r>
              <a:rPr lang="en-IN" dirty="0"/>
              <a:t>, S. De, S. Verma, and A. </a:t>
            </a:r>
            <a:r>
              <a:rPr lang="en-IN" dirty="0" err="1"/>
              <a:t>Swetapadma</a:t>
            </a:r>
            <a:r>
              <a:rPr lang="en-IN" dirty="0"/>
              <a:t>, “A brief review of nearest </a:t>
            </a:r>
            <a:r>
              <a:rPr lang="en-IN" dirty="0" err="1"/>
              <a:t>neighbor</a:t>
            </a:r>
            <a:r>
              <a:rPr lang="en-IN" dirty="0"/>
              <a:t> algorithm for learning and classification,” in 2019 International Conference on Intelligent Computing and Control Systems (ICCS). IEEE, 2019, pp. 1255–1260.</a:t>
            </a:r>
          </a:p>
          <a:p>
            <a:r>
              <a:rPr lang="en-IN" dirty="0"/>
              <a:t> [12] S. Chen, G. I. Webb, L. Liu, and X. Ma, “A novel selective naïve bayes algorithm,” Knowledge-Based Systems, vol. 192, p. 105361, 2020. </a:t>
            </a:r>
          </a:p>
          <a:p>
            <a:r>
              <a:rPr lang="en-IN" dirty="0"/>
              <a:t>[13] M. A. Hearst, S. T. </a:t>
            </a:r>
            <a:r>
              <a:rPr lang="en-IN" dirty="0" err="1"/>
              <a:t>Dumais</a:t>
            </a:r>
            <a:r>
              <a:rPr lang="en-IN" dirty="0"/>
              <a:t>, E. Osuna, J. Platt, and B. </a:t>
            </a:r>
            <a:r>
              <a:rPr lang="en-IN" dirty="0" err="1"/>
              <a:t>Scholkopf</a:t>
            </a:r>
            <a:r>
              <a:rPr lang="en-IN" dirty="0"/>
              <a:t>, “Support vector machines,” IEEE Intelligent Systems and their applications, vol. 13, no. 4, pp. 18–28, 1998. </a:t>
            </a:r>
          </a:p>
          <a:p>
            <a:r>
              <a:rPr lang="en-IN" dirty="0"/>
              <a:t>[14] I. </a:t>
            </a:r>
            <a:r>
              <a:rPr lang="en-IN" dirty="0" err="1"/>
              <a:t>Steinwart</a:t>
            </a:r>
            <a:r>
              <a:rPr lang="en-IN" dirty="0"/>
              <a:t> and A. </a:t>
            </a:r>
            <a:r>
              <a:rPr lang="en-IN" dirty="0" err="1"/>
              <a:t>Christmann</a:t>
            </a:r>
            <a:r>
              <a:rPr lang="en-IN" dirty="0"/>
              <a:t>, Support vector machines. Springer Science &amp; Business Media, 2008. </a:t>
            </a:r>
          </a:p>
          <a:p>
            <a:r>
              <a:rPr lang="en-IN" dirty="0"/>
              <a:t>[15] K. Gurney, An introduction to neural networks. CRC press, 1997. </a:t>
            </a:r>
          </a:p>
          <a:p>
            <a:r>
              <a:rPr lang="en-IN" dirty="0"/>
              <a:t>[16] S. </a:t>
            </a:r>
            <a:r>
              <a:rPr lang="en-IN" dirty="0" err="1"/>
              <a:t>Albawi</a:t>
            </a:r>
            <a:r>
              <a:rPr lang="en-IN" dirty="0"/>
              <a:t>, T. A. Mohammed, and S. Al-</a:t>
            </a:r>
            <a:r>
              <a:rPr lang="en-IN" dirty="0" err="1"/>
              <a:t>Zawi</a:t>
            </a:r>
            <a:r>
              <a:rPr lang="en-IN" dirty="0"/>
              <a:t>, “Understanding of a convolutional neural network,” in 2017 International Conference on Engineering and Technology (ICET), 2017, pp. 1–6. </a:t>
            </a:r>
          </a:p>
          <a:p>
            <a:r>
              <a:rPr lang="en-IN" dirty="0"/>
              <a:t>[17] S. Sharma, S. Sharma, and A. </a:t>
            </a:r>
            <a:r>
              <a:rPr lang="en-IN" dirty="0" err="1"/>
              <a:t>Athaiya</a:t>
            </a:r>
            <a:r>
              <a:rPr lang="en-IN" dirty="0"/>
              <a:t>, “Activation functions in neural networks,” Towards Data Sci, vol. 6, no. 12, pp. 310–316, 2017.</a:t>
            </a:r>
          </a:p>
          <a:p>
            <a:r>
              <a:rPr lang="en-IN" dirty="0"/>
              <a:t> [18] J. Dean and S. Ghemawat, “</a:t>
            </a:r>
            <a:r>
              <a:rPr lang="en-IN" dirty="0" err="1"/>
              <a:t>Mapreduce</a:t>
            </a:r>
            <a:r>
              <a:rPr lang="en-IN" dirty="0"/>
              <a:t>: Simplified data processing on large clusters,” in OSDI’04: Sixth Symposium on Operating System Design and Implementation, San Francisco, CA, 2004, pp. 137–150.</a:t>
            </a:r>
          </a:p>
        </p:txBody>
      </p:sp>
    </p:spTree>
    <p:extLst>
      <p:ext uri="{BB962C8B-B14F-4D97-AF65-F5344CB8AC3E}">
        <p14:creationId xmlns:p14="http://schemas.microsoft.com/office/powerpoint/2010/main" val="249568125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283</TotalTime>
  <Words>2657</Words>
  <Application>Microsoft Office PowerPoint</Application>
  <PresentationFormat>Widescreen</PresentationFormat>
  <Paragraphs>127</Paragraphs>
  <Slides>31</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-apple-system</vt:lpstr>
      <vt:lpstr>Arial</vt:lpstr>
      <vt:lpstr>Calibri</vt:lpstr>
      <vt:lpstr>inter-bold</vt:lpstr>
      <vt:lpstr>inter-regular</vt:lpstr>
      <vt:lpstr>Nunito</vt:lpstr>
      <vt:lpstr>Source Sans 3</vt:lpstr>
      <vt:lpstr>Times New Roman</vt:lpstr>
      <vt:lpstr>Trebuchet MS</vt:lpstr>
      <vt:lpstr>Wingdings 3</vt:lpstr>
      <vt:lpstr>Facet</vt:lpstr>
      <vt:lpstr>PowerPoint Presentation</vt:lpstr>
      <vt:lpstr>              Table of Contents</vt:lpstr>
      <vt:lpstr>Abstract</vt:lpstr>
      <vt:lpstr>Introduction</vt:lpstr>
      <vt:lpstr>Existing System</vt:lpstr>
      <vt:lpstr>Advantages</vt:lpstr>
      <vt:lpstr>Disadvantages</vt:lpstr>
      <vt:lpstr>Proposed System</vt:lpstr>
      <vt:lpstr>Data Flow Diagram </vt:lpstr>
      <vt:lpstr>Methodology</vt:lpstr>
      <vt:lpstr>PowerPoint Presentation</vt:lpstr>
      <vt:lpstr>PowerPoint Presentation</vt:lpstr>
      <vt:lpstr>PowerPoint Presentation</vt:lpstr>
      <vt:lpstr>Machine Learning Algorithms </vt:lpstr>
      <vt:lpstr>PowerPoint Presentation</vt:lpstr>
      <vt:lpstr>PowerPoint Presentation</vt:lpstr>
      <vt:lpstr>PowerPoint Presentation</vt:lpstr>
      <vt:lpstr>PowerPoint Presentation</vt:lpstr>
      <vt:lpstr>PowerPoint Presentation</vt:lpstr>
      <vt:lpstr>Bagging Classifier</vt:lpstr>
      <vt:lpstr>Gradient Boosting</vt:lpstr>
      <vt:lpstr>Accuracy of Different Models</vt:lpstr>
      <vt:lpstr>PowerPoint Presentation</vt:lpstr>
      <vt:lpstr>PowerPoint Presentation</vt:lpstr>
      <vt:lpstr>PowerPoint Presentation</vt:lpstr>
      <vt:lpstr>PowerPoint Presentation</vt:lpstr>
      <vt:lpstr>Result and Evaluation</vt:lpstr>
      <vt:lpstr>Sample Output:</vt:lpstr>
      <vt:lpstr>Conclusion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 Jaiswal</dc:creator>
  <cp:lastModifiedBy>Harsh Jaiswal</cp:lastModifiedBy>
  <cp:revision>3</cp:revision>
  <dcterms:created xsi:type="dcterms:W3CDTF">2024-04-22T13:56:18Z</dcterms:created>
  <dcterms:modified xsi:type="dcterms:W3CDTF">2024-06-03T19:09:48Z</dcterms:modified>
</cp:coreProperties>
</file>